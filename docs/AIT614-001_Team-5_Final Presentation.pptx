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9" r:id="rId7"/>
    <p:sldId id="260" r:id="rId8"/>
    <p:sldId id="258" r:id="rId9"/>
    <p:sldId id="276" r:id="rId10"/>
    <p:sldId id="261" r:id="rId11"/>
    <p:sldId id="262" r:id="rId12"/>
    <p:sldId id="264" r:id="rId13"/>
    <p:sldId id="265" r:id="rId14"/>
    <p:sldId id="266" r:id="rId15"/>
    <p:sldId id="267" r:id="rId16"/>
    <p:sldId id="268" r:id="rId17"/>
    <p:sldId id="278" r:id="rId18"/>
    <p:sldId id="279" r:id="rId19"/>
    <p:sldId id="269" r:id="rId20"/>
    <p:sldId id="270" r:id="rId21"/>
    <p:sldId id="271" r:id="rId22"/>
    <p:sldId id="272" r:id="rId23"/>
    <p:sldId id="277" r:id="rId24"/>
    <p:sldId id="273" r:id="rId25"/>
    <p:sldId id="274" r:id="rId26"/>
    <p:sldId id="27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ika manohar" userId="e4390bc2af848e90" providerId="LiveId" clId="{14CF9635-A224-4C03-A951-490266C5982E}"/>
    <pc:docChg chg="modSld">
      <pc:chgData name="katika manohar" userId="e4390bc2af848e90" providerId="LiveId" clId="{14CF9635-A224-4C03-A951-490266C5982E}" dt="2025-11-03T19:15:55.090" v="0" actId="1076"/>
      <pc:docMkLst>
        <pc:docMk/>
      </pc:docMkLst>
      <pc:sldChg chg="modSp mod">
        <pc:chgData name="katika manohar" userId="e4390bc2af848e90" providerId="LiveId" clId="{14CF9635-A224-4C03-A951-490266C5982E}" dt="2025-11-03T19:15:55.090" v="0" actId="1076"/>
        <pc:sldMkLst>
          <pc:docMk/>
          <pc:sldMk cId="1128028422" sldId="276"/>
        </pc:sldMkLst>
        <pc:spChg chg="mod">
          <ac:chgData name="katika manohar" userId="e4390bc2af848e90" providerId="LiveId" clId="{14CF9635-A224-4C03-A951-490266C5982E}" dt="2025-11-03T19:15:55.090" v="0" actId="1076"/>
          <ac:spMkLst>
            <pc:docMk/>
            <pc:sldMk cId="1128028422" sldId="276"/>
            <ac:spMk id="3" creationId="{37C3F7D4-54BE-9BA0-7C69-2D68D4AAEA7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FB63A3-04FA-4213-A1BD-D52C246414D7}"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1562463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FB63A3-04FA-4213-A1BD-D52C246414D7}"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2887059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FB63A3-04FA-4213-A1BD-D52C246414D7}"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2071267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FB63A3-04FA-4213-A1BD-D52C246414D7}"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3172686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FB63A3-04FA-4213-A1BD-D52C246414D7}" type="datetimeFigureOut">
              <a:rPr lang="en-IN" smtClean="0"/>
              <a:t>03-11-2025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3310515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FB63A3-04FA-4213-A1BD-D52C246414D7}"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501420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FB63A3-04FA-4213-A1BD-D52C246414D7}" type="datetimeFigureOut">
              <a:rPr lang="en-IN" smtClean="0"/>
              <a:t>03-11-2025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782686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FB63A3-04FA-4213-A1BD-D52C246414D7}"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1534121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FB63A3-04FA-4213-A1BD-D52C246414D7}"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2217232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FB63A3-04FA-4213-A1BD-D52C246414D7}"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6227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FB63A3-04FA-4213-A1BD-D52C246414D7}"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468CA6-154A-4194-8C59-5A005F58F5D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14744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FB63A3-04FA-4213-A1BD-D52C246414D7}"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1619722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FB63A3-04FA-4213-A1BD-D52C246414D7}"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468CA6-154A-4194-8C59-5A005F58F5D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88640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FB63A3-04FA-4213-A1BD-D52C246414D7}"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33786126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FB63A3-04FA-4213-A1BD-D52C246414D7}"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28418288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FB63A3-04FA-4213-A1BD-D52C246414D7}"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468CA6-154A-4194-8C59-5A005F58F5D0}" type="slidenum">
              <a:rPr lang="en-IN" smtClean="0"/>
              <a:t>‹#›</a:t>
            </a:fld>
            <a:endParaRPr lang="en-IN"/>
          </a:p>
        </p:txBody>
      </p:sp>
    </p:spTree>
    <p:extLst>
      <p:ext uri="{BB962C8B-B14F-4D97-AF65-F5344CB8AC3E}">
        <p14:creationId xmlns:p14="http://schemas.microsoft.com/office/powerpoint/2010/main" val="94132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5FB63A3-04FA-4213-A1BD-D52C246414D7}" type="datetimeFigureOut">
              <a:rPr lang="en-IN" smtClean="0"/>
              <a:t>03-11-2025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B468CA6-154A-4194-8C59-5A005F58F5D0}" type="slidenum">
              <a:rPr lang="en-IN" smtClean="0"/>
              <a:t>‹#›</a:t>
            </a:fld>
            <a:endParaRPr lang="en-IN"/>
          </a:p>
        </p:txBody>
      </p:sp>
    </p:spTree>
    <p:extLst>
      <p:ext uri="{BB962C8B-B14F-4D97-AF65-F5344CB8AC3E}">
        <p14:creationId xmlns:p14="http://schemas.microsoft.com/office/powerpoint/2010/main" val="8108277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rosap.ntl.bts.gov/view/dot/54525" TargetMode="External"/><Relationship Id="rId2" Type="http://schemas.openxmlformats.org/officeDocument/2006/relationships/hyperlink" Target="https://doi.org/10.1016/j.engstruct.2021.112506" TargetMode="External"/><Relationship Id="rId1" Type="http://schemas.openxmlformats.org/officeDocument/2006/relationships/slideLayout" Target="../slideLayouts/slideLayout2.xml"/><Relationship Id="rId5" Type="http://schemas.openxmlformats.org/officeDocument/2006/relationships/hyperlink" Target="https://www.geeksforgeeks.org/introduction-pyspark-distributed-computing-apache-spark/" TargetMode="External"/><Relationship Id="rId4" Type="http://schemas.openxmlformats.org/officeDocument/2006/relationships/hyperlink" Target="https://www.geeksforgeeks.org/introduction-to-databrick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F5B40F7-AA48-FF72-F30D-DB9AAFBEAF5F}"/>
              </a:ext>
            </a:extLst>
          </p:cNvPr>
          <p:cNvSpPr>
            <a:spLocks noGrp="1"/>
          </p:cNvSpPr>
          <p:nvPr>
            <p:ph type="subTitle" idx="1"/>
          </p:nvPr>
        </p:nvSpPr>
        <p:spPr>
          <a:xfrm>
            <a:off x="714156" y="536950"/>
            <a:ext cx="8951976" cy="2039071"/>
          </a:xfrm>
        </p:spPr>
        <p:txBody>
          <a:bodyPr>
            <a:normAutofit/>
          </a:bodyPr>
          <a:lstStyle/>
          <a:p>
            <a:pPr algn="just"/>
            <a:r>
              <a:rPr lang="en-IN" sz="2400" b="1" cap="all" dirty="0">
                <a:solidFill>
                  <a:schemeClr val="tx1"/>
                </a:solidFill>
                <a:effectLst/>
                <a:latin typeface="Times New Roman" panose="02020603050405020304" pitchFamily="18" charset="0"/>
                <a:ea typeface="Aptos" panose="020B0004020202020204" pitchFamily="34" charset="0"/>
              </a:rPr>
              <a:t>Bridge Condition Assessment and Deterioration Analysis</a:t>
            </a:r>
            <a:endParaRPr lang="en-IN" sz="2400" b="1" dirty="0">
              <a:solidFill>
                <a:schemeClr val="tx1"/>
              </a:solidFill>
            </a:endParaRPr>
          </a:p>
        </p:txBody>
      </p:sp>
      <p:sp>
        <p:nvSpPr>
          <p:cNvPr id="4" name="TextBox 3">
            <a:extLst>
              <a:ext uri="{FF2B5EF4-FFF2-40B4-BE49-F238E27FC236}">
                <a16:creationId xmlns:a16="http://schemas.microsoft.com/office/drawing/2014/main" id="{4CAA92CB-D361-5621-5D93-1832A5C224D1}"/>
              </a:ext>
            </a:extLst>
          </p:cNvPr>
          <p:cNvSpPr txBox="1"/>
          <p:nvPr/>
        </p:nvSpPr>
        <p:spPr>
          <a:xfrm>
            <a:off x="1552818" y="1812518"/>
            <a:ext cx="6483096" cy="4757841"/>
          </a:xfrm>
          <a:prstGeom prst="rect">
            <a:avLst/>
          </a:prstGeom>
          <a:noFill/>
        </p:spPr>
        <p:txBody>
          <a:bodyPr wrap="square" rtlCol="0">
            <a:spAutoFit/>
          </a:bodyPr>
          <a:lstStyle/>
          <a:p>
            <a:pPr marL="1600200" indent="228600" algn="just">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Greeshma Priya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Pendyala</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1828800" algn="just">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Jaswanth</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Malla</a:t>
            </a:r>
          </a:p>
          <a:p>
            <a:pPr marL="2057400" algn="just">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Manohar Babu Katika</a:t>
            </a:r>
            <a:endParaRPr lang="en-IN" kern="100" dirty="0">
              <a:latin typeface="Times New Roman" panose="02020603050405020304" pitchFamily="18" charset="0"/>
              <a:ea typeface="Aptos" panose="020B0004020202020204" pitchFamily="34" charset="0"/>
              <a:cs typeface="Times New Roman" panose="02020603050405020304" pitchFamily="18" charset="0"/>
            </a:endParaRPr>
          </a:p>
          <a:p>
            <a:pPr marL="2057400" algn="just">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Sri Ram Jawahar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Vennala</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1371600" indent="457200" algn="just">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Uday Sai Bela</a:t>
            </a:r>
          </a:p>
          <a:p>
            <a:pPr>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algn="just">
              <a:lnSpc>
                <a:spcPct val="107000"/>
              </a:lnSpc>
              <a:spcAft>
                <a:spcPts val="800"/>
              </a:spcAft>
              <a:tabLst>
                <a:tab pos="160782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Team - 5</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tabLst>
                <a:tab pos="1607820" algn="l"/>
              </a:tabLst>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b="1" kern="100" dirty="0" err="1">
                <a:effectLst/>
                <a:latin typeface="Times New Roman" panose="02020603050405020304" pitchFamily="18" charset="0"/>
                <a:ea typeface="Aptos" panose="020B0004020202020204" pitchFamily="34" charset="0"/>
                <a:cs typeface="Times New Roman" panose="02020603050405020304" pitchFamily="18" charset="0"/>
              </a:rPr>
              <a:t>Dr.</a:t>
            </a: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 Lindi Liao</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tabLst>
                <a:tab pos="1607820" algn="l"/>
              </a:tabLst>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                           GEORGE MASON UNIVERSITY</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tabLst>
                <a:tab pos="160782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AIT 614-001: Big Data Essentials</a:t>
            </a:r>
          </a:p>
          <a:p>
            <a:pPr algn="just">
              <a:lnSpc>
                <a:spcPct val="107000"/>
              </a:lnSpc>
              <a:spcAft>
                <a:spcPts val="800"/>
              </a:spcAft>
              <a:tabLst>
                <a:tab pos="160782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19th November 2024</a:t>
            </a:r>
          </a:p>
          <a:p>
            <a:endParaRPr lang="en-IN" dirty="0"/>
          </a:p>
        </p:txBody>
      </p:sp>
    </p:spTree>
    <p:extLst>
      <p:ext uri="{BB962C8B-B14F-4D97-AF65-F5344CB8AC3E}">
        <p14:creationId xmlns:p14="http://schemas.microsoft.com/office/powerpoint/2010/main" val="131301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AE293-2652-70B3-5A53-1815F23799A2}"/>
              </a:ext>
            </a:extLst>
          </p:cNvPr>
          <p:cNvSpPr>
            <a:spLocks noGrp="1"/>
          </p:cNvSpPr>
          <p:nvPr>
            <p:ph type="title"/>
          </p:nvPr>
        </p:nvSpPr>
        <p:spPr>
          <a:xfrm>
            <a:off x="778934" y="221673"/>
            <a:ext cx="8596668" cy="1320800"/>
          </a:xfrm>
        </p:spPr>
        <p:txBody>
          <a:bodyPr/>
          <a:lstStyle/>
          <a:p>
            <a:r>
              <a:rPr lang="en-IN" b="1" dirty="0">
                <a:solidFill>
                  <a:schemeClr val="tx1"/>
                </a:solidFill>
                <a:latin typeface="Times New Roman" panose="02020603050405020304" pitchFamily="18" charset="0"/>
                <a:cs typeface="Times New Roman" panose="02020603050405020304" pitchFamily="18" charset="0"/>
              </a:rPr>
              <a:t>Introduction</a:t>
            </a:r>
            <a:r>
              <a:rPr lang="en-IN" b="1" dirty="0">
                <a:solidFill>
                  <a:schemeClr val="tx1"/>
                </a:solidFill>
              </a:rPr>
              <a:t>:</a:t>
            </a:r>
          </a:p>
        </p:txBody>
      </p:sp>
      <p:sp>
        <p:nvSpPr>
          <p:cNvPr id="3" name="Content Placeholder 2">
            <a:extLst>
              <a:ext uri="{FF2B5EF4-FFF2-40B4-BE49-F238E27FC236}">
                <a16:creationId xmlns:a16="http://schemas.microsoft.com/office/drawing/2014/main" id="{7DE3879C-3714-2C2D-AE90-70264CAD228F}"/>
              </a:ext>
            </a:extLst>
          </p:cNvPr>
          <p:cNvSpPr>
            <a:spLocks noGrp="1"/>
          </p:cNvSpPr>
          <p:nvPr>
            <p:ph idx="1"/>
          </p:nvPr>
        </p:nvSpPr>
        <p:spPr>
          <a:xfrm>
            <a:off x="437190" y="1063741"/>
            <a:ext cx="8596668" cy="5198514"/>
          </a:xfrm>
        </p:spPr>
        <p:txBody>
          <a:bodyPr>
            <a:normAutofit/>
          </a:bodyPr>
          <a:lstStyle/>
          <a:p>
            <a:pPr algn="just"/>
            <a:r>
              <a:rPr lang="en-US" sz="2000" dirty="0">
                <a:latin typeface="Times New Roman" panose="02020603050405020304" pitchFamily="18" charset="0"/>
                <a:cs typeface="Times New Roman" panose="02020603050405020304" pitchFamily="18" charset="0"/>
              </a:rPr>
              <a:t>Bridges are crucial to transportation infrastructure, connecting communities and facilitating efficient movement of goods and people. Aging infrastructure, increasing traffic, and environmental factors often contribute to bridge deterioration over time. To ensure safety and longevity, continuous monitoring, maintenance, and timely intervention are essential.</a:t>
            </a:r>
          </a:p>
          <a:p>
            <a:pPr algn="just"/>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Bridge Condition Assessment and Deterioration Analysis</a:t>
            </a:r>
            <a:r>
              <a:rPr lang="en-US" sz="2000" dirty="0">
                <a:latin typeface="Times New Roman" panose="02020603050405020304" pitchFamily="18" charset="0"/>
                <a:cs typeface="Times New Roman" panose="02020603050405020304" pitchFamily="18" charset="0"/>
              </a:rPr>
              <a:t> project leverages data-driven techniques to analyze factors impacting bridge health. Utilizing the variables such as age, traffic volumes, construction materials, and structural designs, this study aims to develop predictive models to forecast bridge conditions and identify risks.</a:t>
            </a:r>
          </a:p>
          <a:p>
            <a:pPr algn="just"/>
            <a:r>
              <a:rPr lang="en-US" sz="2000" dirty="0">
                <a:latin typeface="Times New Roman" panose="02020603050405020304" pitchFamily="18" charset="0"/>
                <a:cs typeface="Times New Roman" panose="02020603050405020304" pitchFamily="18" charset="0"/>
              </a:rPr>
              <a:t>This initiative seeks to understand key determinants of bridge deterioration and assist agencies in prioritizing maintenance efforts through risk-based assessments. The goal is a proactive approach to bridge management, minimizing costs, enhancing safety, and ensuring sustainable infrastructure.</a:t>
            </a:r>
          </a:p>
          <a:p>
            <a:endParaRPr lang="en-IN" dirty="0"/>
          </a:p>
        </p:txBody>
      </p:sp>
    </p:spTree>
    <p:extLst>
      <p:ext uri="{BB962C8B-B14F-4D97-AF65-F5344CB8AC3E}">
        <p14:creationId xmlns:p14="http://schemas.microsoft.com/office/powerpoint/2010/main" val="1133499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DD07C-2329-8272-2E0D-FBE47AF74E44}"/>
              </a:ext>
            </a:extLst>
          </p:cNvPr>
          <p:cNvSpPr>
            <a:spLocks noGrp="1"/>
          </p:cNvSpPr>
          <p:nvPr>
            <p:ph type="title"/>
          </p:nvPr>
        </p:nvSpPr>
        <p:spPr>
          <a:xfrm>
            <a:off x="529552" y="752764"/>
            <a:ext cx="8596668" cy="1320800"/>
          </a:xfrm>
        </p:spPr>
        <p:txBody>
          <a:bodyPr/>
          <a:lstStyle/>
          <a:p>
            <a:r>
              <a:rPr lang="en-IN" b="1" dirty="0">
                <a:solidFill>
                  <a:schemeClr val="tx1"/>
                </a:solidFill>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D3FF1971-B27D-5843-0F9B-0C893C3E93F7}"/>
              </a:ext>
            </a:extLst>
          </p:cNvPr>
          <p:cNvSpPr>
            <a:spLocks noGrp="1"/>
          </p:cNvSpPr>
          <p:nvPr>
            <p:ph idx="1"/>
          </p:nvPr>
        </p:nvSpPr>
        <p:spPr>
          <a:xfrm>
            <a:off x="529552" y="1569462"/>
            <a:ext cx="8596668" cy="4535774"/>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The "Bridge Condition Assessment and Deterioration Analysis" project aims to use machine learning to predict bridge conditions based on traffic loads, material properties. It focuses on analyzing key deterioration factors, such as age and structure, to generate actionable maintenance recommendations. The project evaluates the impact of traffic categories and structural designs on deterioration rates and develops a decision-making framework for optimizing maintenance strategies. Ultimately, it seeks to enhance bridge health monitoring and infrastructure management.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613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18465-5F19-E9B9-7BE2-E4AED0B5D056}"/>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Summarized Project timeline:</a:t>
            </a:r>
          </a:p>
        </p:txBody>
      </p:sp>
      <p:graphicFrame>
        <p:nvGraphicFramePr>
          <p:cNvPr id="4" name="Table 3">
            <a:extLst>
              <a:ext uri="{FF2B5EF4-FFF2-40B4-BE49-F238E27FC236}">
                <a16:creationId xmlns:a16="http://schemas.microsoft.com/office/drawing/2014/main" id="{D409F259-BF9E-921B-D523-BB4B3832E9A9}"/>
              </a:ext>
            </a:extLst>
          </p:cNvPr>
          <p:cNvGraphicFramePr>
            <a:graphicFrameLocks noGrp="1"/>
          </p:cNvGraphicFramePr>
          <p:nvPr>
            <p:extLst>
              <p:ext uri="{D42A27DB-BD31-4B8C-83A1-F6EECF244321}">
                <p14:modId xmlns:p14="http://schemas.microsoft.com/office/powerpoint/2010/main" val="3018584018"/>
              </p:ext>
            </p:extLst>
          </p:nvPr>
        </p:nvGraphicFramePr>
        <p:xfrm>
          <a:off x="677334" y="1270000"/>
          <a:ext cx="10103442" cy="5276386"/>
        </p:xfrm>
        <a:graphic>
          <a:graphicData uri="http://schemas.openxmlformats.org/drawingml/2006/table">
            <a:tbl>
              <a:tblPr firstRow="1" bandRow="1">
                <a:tableStyleId>{5C22544A-7EE6-4342-B048-85BDC9FD1C3A}</a:tableStyleId>
              </a:tblPr>
              <a:tblGrid>
                <a:gridCol w="3367814">
                  <a:extLst>
                    <a:ext uri="{9D8B030D-6E8A-4147-A177-3AD203B41FA5}">
                      <a16:colId xmlns:a16="http://schemas.microsoft.com/office/drawing/2014/main" val="1754050942"/>
                    </a:ext>
                  </a:extLst>
                </a:gridCol>
                <a:gridCol w="2721412">
                  <a:extLst>
                    <a:ext uri="{9D8B030D-6E8A-4147-A177-3AD203B41FA5}">
                      <a16:colId xmlns:a16="http://schemas.microsoft.com/office/drawing/2014/main" val="3803538432"/>
                    </a:ext>
                  </a:extLst>
                </a:gridCol>
                <a:gridCol w="4014216">
                  <a:extLst>
                    <a:ext uri="{9D8B030D-6E8A-4147-A177-3AD203B41FA5}">
                      <a16:colId xmlns:a16="http://schemas.microsoft.com/office/drawing/2014/main" val="2602895862"/>
                    </a:ext>
                  </a:extLst>
                </a:gridCol>
              </a:tblGrid>
              <a:tr h="646805">
                <a:tc>
                  <a:txBody>
                    <a:bodyPr/>
                    <a:lstStyle/>
                    <a:p>
                      <a:pPr algn="ctr"/>
                      <a:r>
                        <a:rPr lang="en-IN" dirty="0">
                          <a:latin typeface="Times New Roman" panose="02020603050405020304" pitchFamily="18" charset="0"/>
                          <a:cs typeface="Times New Roman" panose="02020603050405020304" pitchFamily="18" charset="0"/>
                        </a:rPr>
                        <a:t>TASK</a:t>
                      </a:r>
                    </a:p>
                  </a:txBody>
                  <a:tcPr/>
                </a:tc>
                <a:tc>
                  <a:txBody>
                    <a:bodyPr/>
                    <a:lstStyle/>
                    <a:p>
                      <a:pPr algn="ctr"/>
                      <a:r>
                        <a:rPr lang="en-IN" dirty="0">
                          <a:latin typeface="Times New Roman" panose="02020603050405020304" pitchFamily="18" charset="0"/>
                          <a:cs typeface="Times New Roman" panose="02020603050405020304" pitchFamily="18" charset="0"/>
                        </a:rPr>
                        <a:t>TIMELINE</a:t>
                      </a:r>
                    </a:p>
                  </a:txBody>
                  <a:tcPr/>
                </a:tc>
                <a:tc>
                  <a:txBody>
                    <a:bodyPr/>
                    <a:lstStyle/>
                    <a:p>
                      <a:pPr algn="ctr"/>
                      <a:r>
                        <a:rPr lang="en-IN" dirty="0">
                          <a:latin typeface="Times New Roman" panose="02020603050405020304" pitchFamily="18" charset="0"/>
                          <a:cs typeface="Times New Roman" panose="02020603050405020304" pitchFamily="18" charset="0"/>
                        </a:rPr>
                        <a:t>TASK ACCOMPLISHED BY</a:t>
                      </a:r>
                    </a:p>
                  </a:txBody>
                  <a:tcPr/>
                </a:tc>
                <a:extLst>
                  <a:ext uri="{0D108BD9-81ED-4DB2-BD59-A6C34878D82A}">
                    <a16:rowId xmlns:a16="http://schemas.microsoft.com/office/drawing/2014/main" val="2598470751"/>
                  </a:ext>
                </a:extLst>
              </a:tr>
              <a:tr h="646470">
                <a:tc>
                  <a:txBody>
                    <a:bodyPr/>
                    <a:lstStyle/>
                    <a:p>
                      <a:r>
                        <a:rPr lang="en-IN" dirty="0">
                          <a:latin typeface="Times New Roman" panose="02020603050405020304" pitchFamily="18" charset="0"/>
                          <a:cs typeface="Times New Roman" panose="02020603050405020304" pitchFamily="18" charset="0"/>
                        </a:rPr>
                        <a:t>Data selection &amp; Project Topic</a:t>
                      </a:r>
                    </a:p>
                  </a:txBody>
                  <a:tcPr/>
                </a:tc>
                <a:tc>
                  <a:txBody>
                    <a:bodyPr/>
                    <a:lstStyle/>
                    <a:p>
                      <a:r>
                        <a:rPr lang="en-IN" dirty="0">
                          <a:latin typeface="Times New Roman" panose="02020603050405020304" pitchFamily="18" charset="0"/>
                          <a:cs typeface="Times New Roman" panose="02020603050405020304" pitchFamily="18" charset="0"/>
                        </a:rPr>
                        <a:t>10/10/2024</a:t>
                      </a:r>
                    </a:p>
                  </a:txBody>
                  <a:tcPr/>
                </a:tc>
                <a:tc>
                  <a:txBody>
                    <a:bodyPr/>
                    <a:lstStyle/>
                    <a:p>
                      <a:r>
                        <a:rPr lang="en-IN" dirty="0">
                          <a:latin typeface="Times New Roman" panose="02020603050405020304" pitchFamily="18" charset="0"/>
                          <a:cs typeface="Times New Roman" panose="02020603050405020304" pitchFamily="18" charset="0"/>
                        </a:rPr>
                        <a:t>All Members</a:t>
                      </a:r>
                    </a:p>
                  </a:txBody>
                  <a:tcPr/>
                </a:tc>
                <a:extLst>
                  <a:ext uri="{0D108BD9-81ED-4DB2-BD59-A6C34878D82A}">
                    <a16:rowId xmlns:a16="http://schemas.microsoft.com/office/drawing/2014/main" val="3290923354"/>
                  </a:ext>
                </a:extLst>
              </a:tr>
              <a:tr h="646805">
                <a:tc>
                  <a:txBody>
                    <a:bodyPr/>
                    <a:lstStyle/>
                    <a:p>
                      <a:r>
                        <a:rPr lang="en-IN" dirty="0">
                          <a:latin typeface="Times New Roman" panose="02020603050405020304" pitchFamily="18" charset="0"/>
                          <a:cs typeface="Times New Roman" panose="02020603050405020304" pitchFamily="18" charset="0"/>
                        </a:rPr>
                        <a:t>Project Proposal</a:t>
                      </a:r>
                    </a:p>
                  </a:txBody>
                  <a:tcPr/>
                </a:tc>
                <a:tc>
                  <a:txBody>
                    <a:bodyPr/>
                    <a:lstStyle/>
                    <a:p>
                      <a:r>
                        <a:rPr lang="en-IN" dirty="0">
                          <a:latin typeface="Times New Roman" panose="02020603050405020304" pitchFamily="18" charset="0"/>
                          <a:cs typeface="Times New Roman" panose="02020603050405020304" pitchFamily="18" charset="0"/>
                        </a:rPr>
                        <a:t>10/22/2024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All Members</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62628891"/>
                  </a:ext>
                </a:extLst>
              </a:tr>
              <a:tr h="646805">
                <a:tc>
                  <a:txBody>
                    <a:bodyPr/>
                    <a:lstStyle/>
                    <a:p>
                      <a:r>
                        <a:rPr lang="en-IN" dirty="0">
                          <a:latin typeface="Times New Roman" panose="02020603050405020304" pitchFamily="18" charset="0"/>
                          <a:cs typeface="Times New Roman" panose="02020603050405020304" pitchFamily="18" charset="0"/>
                        </a:rPr>
                        <a:t>Setting Up Environment</a:t>
                      </a:r>
                    </a:p>
                  </a:txBody>
                  <a:tcPr/>
                </a:tc>
                <a:tc>
                  <a:txBody>
                    <a:bodyPr/>
                    <a:lstStyle/>
                    <a:p>
                      <a:r>
                        <a:rPr lang="en-IN" dirty="0">
                          <a:latin typeface="Times New Roman" panose="02020603050405020304" pitchFamily="18" charset="0"/>
                          <a:cs typeface="Times New Roman" panose="02020603050405020304" pitchFamily="18" charset="0"/>
                        </a:rPr>
                        <a:t>11/3/2024 – 11/6/2024</a:t>
                      </a:r>
                    </a:p>
                  </a:txBody>
                  <a:tcPr/>
                </a:tc>
                <a:tc>
                  <a:txBody>
                    <a:bodyPr/>
                    <a:lstStyle/>
                    <a:p>
                      <a:r>
                        <a:rPr lang="en-IN" dirty="0">
                          <a:latin typeface="Times New Roman" panose="02020603050405020304" pitchFamily="18" charset="0"/>
                          <a:cs typeface="Times New Roman" panose="02020603050405020304" pitchFamily="18" charset="0"/>
                        </a:rPr>
                        <a:t>Greeshma Priya, Uday Sai, Manohar Babu</a:t>
                      </a:r>
                    </a:p>
                  </a:txBody>
                  <a:tcPr/>
                </a:tc>
                <a:extLst>
                  <a:ext uri="{0D108BD9-81ED-4DB2-BD59-A6C34878D82A}">
                    <a16:rowId xmlns:a16="http://schemas.microsoft.com/office/drawing/2014/main" val="2302407798"/>
                  </a:ext>
                </a:extLst>
              </a:tr>
              <a:tr h="646805">
                <a:tc>
                  <a:txBody>
                    <a:bodyPr/>
                    <a:lstStyle/>
                    <a:p>
                      <a:r>
                        <a:rPr lang="en-IN" dirty="0">
                          <a:latin typeface="Times New Roman" panose="02020603050405020304" pitchFamily="18" charset="0"/>
                          <a:cs typeface="Times New Roman" panose="02020603050405020304" pitchFamily="18" charset="0"/>
                        </a:rPr>
                        <a:t>Model Planning &amp; Model Building</a:t>
                      </a:r>
                    </a:p>
                  </a:txBody>
                  <a:tcPr/>
                </a:tc>
                <a:tc>
                  <a:txBody>
                    <a:bodyPr/>
                    <a:lstStyle/>
                    <a:p>
                      <a:r>
                        <a:rPr lang="en-IN" dirty="0">
                          <a:latin typeface="Times New Roman" panose="02020603050405020304" pitchFamily="18" charset="0"/>
                          <a:cs typeface="Times New Roman" panose="02020603050405020304" pitchFamily="18" charset="0"/>
                        </a:rPr>
                        <a:t>11/7/2024 – 11/9/2024</a:t>
                      </a:r>
                    </a:p>
                  </a:txBody>
                  <a:tcPr/>
                </a:tc>
                <a:tc>
                  <a:txBody>
                    <a:bodyPr/>
                    <a:lstStyle/>
                    <a:p>
                      <a:r>
                        <a:rPr lang="en-IN" dirty="0">
                          <a:latin typeface="Times New Roman" panose="02020603050405020304" pitchFamily="18" charset="0"/>
                          <a:cs typeface="Times New Roman" panose="02020603050405020304" pitchFamily="18" charset="0"/>
                        </a:rPr>
                        <a:t>Sri Ram Jawahar, Manohar Babu, </a:t>
                      </a:r>
                      <a:r>
                        <a:rPr lang="en-IN" dirty="0" err="1">
                          <a:latin typeface="Times New Roman" panose="02020603050405020304" pitchFamily="18" charset="0"/>
                          <a:cs typeface="Times New Roman" panose="02020603050405020304" pitchFamily="18" charset="0"/>
                        </a:rPr>
                        <a:t>Jaswanth</a:t>
                      </a:r>
                      <a:r>
                        <a:rPr lang="en-IN" dirty="0">
                          <a:latin typeface="Times New Roman" panose="02020603050405020304" pitchFamily="18" charset="0"/>
                          <a:cs typeface="Times New Roman" panose="02020603050405020304" pitchFamily="18" charset="0"/>
                        </a:rPr>
                        <a:t>, Greeshma Priya</a:t>
                      </a:r>
                    </a:p>
                  </a:txBody>
                  <a:tcPr/>
                </a:tc>
                <a:extLst>
                  <a:ext uri="{0D108BD9-81ED-4DB2-BD59-A6C34878D82A}">
                    <a16:rowId xmlns:a16="http://schemas.microsoft.com/office/drawing/2014/main" val="170429764"/>
                  </a:ext>
                </a:extLst>
              </a:tr>
              <a:tr h="646805">
                <a:tc>
                  <a:txBody>
                    <a:bodyPr/>
                    <a:lstStyle/>
                    <a:p>
                      <a:r>
                        <a:rPr lang="en-IN" dirty="0">
                          <a:latin typeface="Times New Roman" panose="02020603050405020304" pitchFamily="18" charset="0"/>
                          <a:cs typeface="Times New Roman" panose="02020603050405020304" pitchFamily="18" charset="0"/>
                        </a:rPr>
                        <a:t>Recording &amp; Presenting Findings</a:t>
                      </a:r>
                    </a:p>
                  </a:txBody>
                  <a:tcPr/>
                </a:tc>
                <a:tc>
                  <a:txBody>
                    <a:bodyPr/>
                    <a:lstStyle/>
                    <a:p>
                      <a:r>
                        <a:rPr lang="en-IN" dirty="0">
                          <a:latin typeface="Times New Roman" panose="02020603050405020304" pitchFamily="18" charset="0"/>
                          <a:cs typeface="Times New Roman" panose="02020603050405020304" pitchFamily="18" charset="0"/>
                        </a:rPr>
                        <a:t>11/10/2024-11/15/2024</a:t>
                      </a:r>
                    </a:p>
                  </a:txBody>
                  <a:tcPr/>
                </a:tc>
                <a:tc>
                  <a:txBody>
                    <a:bodyPr/>
                    <a:lstStyle/>
                    <a:p>
                      <a:r>
                        <a:rPr lang="en-IN" dirty="0">
                          <a:latin typeface="Times New Roman" panose="02020603050405020304" pitchFamily="18" charset="0"/>
                          <a:cs typeface="Times New Roman" panose="02020603050405020304" pitchFamily="18" charset="0"/>
                        </a:rPr>
                        <a:t>Uday Sai, </a:t>
                      </a:r>
                      <a:r>
                        <a:rPr lang="en-IN" dirty="0" err="1">
                          <a:latin typeface="Times New Roman" panose="02020603050405020304" pitchFamily="18" charset="0"/>
                          <a:cs typeface="Times New Roman" panose="02020603050405020304" pitchFamily="18" charset="0"/>
                        </a:rPr>
                        <a:t>Jaswanth</a:t>
                      </a:r>
                      <a:r>
                        <a:rPr lang="en-IN" dirty="0">
                          <a:latin typeface="Times New Roman" panose="02020603050405020304" pitchFamily="18" charset="0"/>
                          <a:cs typeface="Times New Roman" panose="02020603050405020304" pitchFamily="18" charset="0"/>
                        </a:rPr>
                        <a:t>, Sri Ram Jawahar</a:t>
                      </a:r>
                    </a:p>
                  </a:txBody>
                  <a:tcPr/>
                </a:tc>
                <a:extLst>
                  <a:ext uri="{0D108BD9-81ED-4DB2-BD59-A6C34878D82A}">
                    <a16:rowId xmlns:a16="http://schemas.microsoft.com/office/drawing/2014/main" val="3282896280"/>
                  </a:ext>
                </a:extLst>
              </a:tr>
              <a:tr h="646805">
                <a:tc>
                  <a:txBody>
                    <a:bodyPr/>
                    <a:lstStyle/>
                    <a:p>
                      <a:r>
                        <a:rPr lang="en-IN" dirty="0">
                          <a:latin typeface="Times New Roman" panose="02020603050405020304" pitchFamily="18" charset="0"/>
                          <a:cs typeface="Times New Roman" panose="02020603050405020304" pitchFamily="18" charset="0"/>
                        </a:rPr>
                        <a:t>Presentation Slides &amp; Project Abstract</a:t>
                      </a:r>
                    </a:p>
                  </a:txBody>
                  <a:tcPr/>
                </a:tc>
                <a:tc>
                  <a:txBody>
                    <a:bodyPr/>
                    <a:lstStyle/>
                    <a:p>
                      <a:r>
                        <a:rPr lang="en-IN" dirty="0">
                          <a:latin typeface="Times New Roman" panose="02020603050405020304" pitchFamily="18" charset="0"/>
                          <a:cs typeface="Times New Roman" panose="02020603050405020304" pitchFamily="18" charset="0"/>
                        </a:rPr>
                        <a:t>11/19/2024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All Members</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80376"/>
                  </a:ext>
                </a:extLst>
              </a:tr>
              <a:tr h="374543">
                <a:tc>
                  <a:txBody>
                    <a:bodyPr/>
                    <a:lstStyle/>
                    <a:p>
                      <a:r>
                        <a:rPr lang="en-IN" dirty="0">
                          <a:latin typeface="Times New Roman" panose="02020603050405020304" pitchFamily="18" charset="0"/>
                          <a:cs typeface="Times New Roman" panose="02020603050405020304" pitchFamily="18" charset="0"/>
                        </a:rPr>
                        <a:t>Class Presentation</a:t>
                      </a:r>
                    </a:p>
                  </a:txBody>
                  <a:tcPr/>
                </a:tc>
                <a:tc>
                  <a:txBody>
                    <a:bodyPr/>
                    <a:lstStyle/>
                    <a:p>
                      <a:r>
                        <a:rPr lang="en-IN" dirty="0">
                          <a:latin typeface="Times New Roman" panose="02020603050405020304" pitchFamily="18" charset="0"/>
                          <a:cs typeface="Times New Roman" panose="02020603050405020304" pitchFamily="18" charset="0"/>
                        </a:rPr>
                        <a:t>11/20/2024</a:t>
                      </a:r>
                    </a:p>
                  </a:txBody>
                  <a:tcPr/>
                </a:tc>
                <a:tc>
                  <a:txBody>
                    <a:bodyPr/>
                    <a:lstStyle/>
                    <a:p>
                      <a:r>
                        <a:rPr lang="en-IN" dirty="0">
                          <a:latin typeface="Times New Roman" panose="02020603050405020304" pitchFamily="18" charset="0"/>
                          <a:cs typeface="Times New Roman" panose="02020603050405020304" pitchFamily="18" charset="0"/>
                        </a:rPr>
                        <a:t>All Members</a:t>
                      </a:r>
                    </a:p>
                  </a:txBody>
                  <a:tcPr/>
                </a:tc>
                <a:extLst>
                  <a:ext uri="{0D108BD9-81ED-4DB2-BD59-A6C34878D82A}">
                    <a16:rowId xmlns:a16="http://schemas.microsoft.com/office/drawing/2014/main" val="3458738925"/>
                  </a:ext>
                </a:extLst>
              </a:tr>
              <a:tr h="374543">
                <a:tc>
                  <a:txBody>
                    <a:bodyPr/>
                    <a:lstStyle/>
                    <a:p>
                      <a:r>
                        <a:rPr lang="en-IN" dirty="0">
                          <a:latin typeface="Times New Roman" panose="02020603050405020304" pitchFamily="18" charset="0"/>
                          <a:cs typeface="Times New Roman" panose="02020603050405020304" pitchFamily="18" charset="0"/>
                        </a:rPr>
                        <a:t>Project Working System</a:t>
                      </a:r>
                    </a:p>
                  </a:txBody>
                  <a:tcPr/>
                </a:tc>
                <a:tc>
                  <a:txBody>
                    <a:bodyPr/>
                    <a:lstStyle/>
                    <a:p>
                      <a:r>
                        <a:rPr lang="en-IN" dirty="0">
                          <a:latin typeface="Times New Roman" panose="02020603050405020304" pitchFamily="18" charset="0"/>
                          <a:cs typeface="Times New Roman" panose="02020603050405020304" pitchFamily="18" charset="0"/>
                        </a:rPr>
                        <a:t>11/26/2024</a:t>
                      </a:r>
                    </a:p>
                  </a:txBody>
                  <a:tcPr/>
                </a:tc>
                <a:tc>
                  <a:txBody>
                    <a:bodyPr/>
                    <a:lstStyle/>
                    <a:p>
                      <a:r>
                        <a:rPr lang="en-IN" dirty="0">
                          <a:latin typeface="Times New Roman" panose="02020603050405020304" pitchFamily="18" charset="0"/>
                          <a:cs typeface="Times New Roman" panose="02020603050405020304" pitchFamily="18" charset="0"/>
                        </a:rPr>
                        <a:t>All Members</a:t>
                      </a:r>
                    </a:p>
                  </a:txBody>
                  <a:tcPr/>
                </a:tc>
                <a:extLst>
                  <a:ext uri="{0D108BD9-81ED-4DB2-BD59-A6C34878D82A}">
                    <a16:rowId xmlns:a16="http://schemas.microsoft.com/office/drawing/2014/main" val="4110874934"/>
                  </a:ext>
                </a:extLst>
              </a:tr>
            </a:tbl>
          </a:graphicData>
        </a:graphic>
      </p:graphicFrame>
    </p:spTree>
    <p:extLst>
      <p:ext uri="{BB962C8B-B14F-4D97-AF65-F5344CB8AC3E}">
        <p14:creationId xmlns:p14="http://schemas.microsoft.com/office/powerpoint/2010/main" val="4211312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339B1-D9CC-EA7B-2AF4-E6043A24EC7C}"/>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Selected Dataset:</a:t>
            </a:r>
          </a:p>
        </p:txBody>
      </p:sp>
      <p:sp>
        <p:nvSpPr>
          <p:cNvPr id="3" name="Content Placeholder 2">
            <a:extLst>
              <a:ext uri="{FF2B5EF4-FFF2-40B4-BE49-F238E27FC236}">
                <a16:creationId xmlns:a16="http://schemas.microsoft.com/office/drawing/2014/main" id="{5D81F29F-08AD-3FA3-E0DF-3944B34B372B}"/>
              </a:ext>
            </a:extLst>
          </p:cNvPr>
          <p:cNvSpPr>
            <a:spLocks noGrp="1"/>
          </p:cNvSpPr>
          <p:nvPr>
            <p:ph idx="1"/>
          </p:nvPr>
        </p:nvSpPr>
        <p:spPr>
          <a:xfrm>
            <a:off x="557262" y="1488613"/>
            <a:ext cx="8596668" cy="3880773"/>
          </a:xfrm>
        </p:spPr>
        <p:txBody>
          <a:bodyPr/>
          <a:lstStyle/>
          <a:p>
            <a:r>
              <a:rPr lang="en-IN" sz="1800" dirty="0">
                <a:effectLst/>
                <a:latin typeface="Times New Roman" panose="02020603050405020304" pitchFamily="18" charset="0"/>
                <a:ea typeface="Aptos" panose="020B0004020202020204" pitchFamily="34" charset="0"/>
                <a:cs typeface="Times New Roman" panose="02020603050405020304" pitchFamily="18" charset="0"/>
              </a:rPr>
              <a:t>The proposed dataset for "Bridge Condition Assessment and Deterioration Analysis" includes key features such as State Code, Structure Number, and Owner Agency for tracking and management. It provides geographic context with County Code, County Name, and City - </a:t>
            </a:r>
            <a:r>
              <a:rPr lang="en-IN" sz="1800" dirty="0" err="1">
                <a:effectLst/>
                <a:latin typeface="Times New Roman" panose="02020603050405020304" pitchFamily="18" charset="0"/>
                <a:ea typeface="Aptos" panose="020B0004020202020204" pitchFamily="34" charset="0"/>
                <a:cs typeface="Times New Roman" panose="02020603050405020304" pitchFamily="18" charset="0"/>
              </a:rPr>
              <a:t>InfoBridge</a:t>
            </a:r>
            <a:r>
              <a:rPr lang="en-IN" sz="1800" dirty="0">
                <a:effectLst/>
                <a:latin typeface="Times New Roman" panose="02020603050405020304" pitchFamily="18" charset="0"/>
                <a:ea typeface="Aptos" panose="020B0004020202020204" pitchFamily="34" charset="0"/>
                <a:cs typeface="Times New Roman" panose="02020603050405020304" pitchFamily="18" charset="0"/>
              </a:rPr>
              <a:t> Place Name. Structural details like Year Built, Main Span Material, and Structure Length inform durability assessments. Traffic impact is measured through Average Daily Traffic (ADT) and Deck Area. Finally, Bridge Condition (CAT10) and Bridge Age offer insights into the current state and maintenance needs of the bridges</a:t>
            </a:r>
          </a:p>
          <a:p>
            <a:pPr algn="just">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The Number of Rows in dataset are: 59501. </a:t>
            </a:r>
          </a:p>
          <a:p>
            <a:pPr algn="just">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The Number of Columns in dataset are: 17</a:t>
            </a:r>
          </a:p>
          <a:p>
            <a:pPr algn="just">
              <a:lnSpc>
                <a:spcPct val="107000"/>
              </a:lnSpc>
              <a:spcAft>
                <a:spcPts val="8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86326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3F7D4-54BE-9BA0-7C69-2D68D4AAEA74}"/>
              </a:ext>
            </a:extLst>
          </p:cNvPr>
          <p:cNvSpPr>
            <a:spLocks noGrp="1"/>
          </p:cNvSpPr>
          <p:nvPr>
            <p:ph idx="1"/>
          </p:nvPr>
        </p:nvSpPr>
        <p:spPr>
          <a:xfrm>
            <a:off x="887277" y="594379"/>
            <a:ext cx="8596668" cy="5089956"/>
          </a:xfrm>
        </p:spPr>
        <p:txBody>
          <a:bodyPr>
            <a:normAutofit fontScale="40000" lnSpcReduction="20000"/>
          </a:bodyPr>
          <a:lstStyle/>
          <a:p>
            <a:pPr algn="just">
              <a:lnSpc>
                <a:spcPct val="107000"/>
              </a:lnSpc>
              <a:spcAft>
                <a:spcPts val="800"/>
              </a:spcAft>
            </a:pPr>
            <a:r>
              <a:rPr lang="en-IN" sz="4000" b="1" kern="100" dirty="0">
                <a:effectLst/>
                <a:latin typeface="Times New Roman" panose="02020603050405020304" pitchFamily="18" charset="0"/>
                <a:ea typeface="Aptos" panose="020B0004020202020204" pitchFamily="34" charset="0"/>
                <a:cs typeface="Times New Roman" panose="02020603050405020304" pitchFamily="18" charset="0"/>
              </a:rPr>
              <a:t>Average Daily Traffic (ADT):</a:t>
            </a:r>
            <a:r>
              <a:rPr lang="en-IN" sz="4000" kern="100" dirty="0">
                <a:effectLst/>
                <a:latin typeface="Times New Roman" panose="02020603050405020304" pitchFamily="18" charset="0"/>
                <a:ea typeface="Aptos" panose="020B0004020202020204" pitchFamily="34" charset="0"/>
                <a:cs typeface="Times New Roman" panose="02020603050405020304" pitchFamily="18" charset="0"/>
              </a:rPr>
              <a:t> The average number of vehicles that pass over the bridge each day, which helps assess traffic load and its impact on bridge conditions.</a:t>
            </a:r>
          </a:p>
          <a:p>
            <a:pPr algn="just">
              <a:lnSpc>
                <a:spcPct val="107000"/>
              </a:lnSpc>
              <a:spcAft>
                <a:spcPts val="800"/>
              </a:spcAft>
            </a:pPr>
            <a:r>
              <a:rPr lang="en-IN" sz="4000" b="1" kern="100" dirty="0">
                <a:effectLst/>
                <a:latin typeface="Times New Roman" panose="02020603050405020304" pitchFamily="18" charset="0"/>
                <a:ea typeface="Aptos" panose="020B0004020202020204" pitchFamily="34" charset="0"/>
                <a:cs typeface="Times New Roman" panose="02020603050405020304" pitchFamily="18" charset="0"/>
              </a:rPr>
              <a:t>Main Span Material:</a:t>
            </a:r>
            <a:r>
              <a:rPr lang="en-IN" sz="4000" kern="100" dirty="0">
                <a:effectLst/>
                <a:latin typeface="Times New Roman" panose="02020603050405020304" pitchFamily="18" charset="0"/>
                <a:ea typeface="Aptos" panose="020B0004020202020204" pitchFamily="34" charset="0"/>
                <a:cs typeface="Times New Roman" panose="02020603050405020304" pitchFamily="18" charset="0"/>
              </a:rPr>
              <a:t> The primary material used in the construction of the bridge's main span (e.g., steel, concrete), which can influence durability and maintenance needs.</a:t>
            </a:r>
          </a:p>
          <a:p>
            <a:pPr algn="just">
              <a:lnSpc>
                <a:spcPct val="107000"/>
              </a:lnSpc>
              <a:spcAft>
                <a:spcPts val="800"/>
              </a:spcAft>
            </a:pPr>
            <a:r>
              <a:rPr lang="en-IN" sz="4000" b="1" kern="100" dirty="0">
                <a:effectLst/>
                <a:latin typeface="Times New Roman" panose="02020603050405020304" pitchFamily="18" charset="0"/>
                <a:ea typeface="Aptos" panose="020B0004020202020204" pitchFamily="34" charset="0"/>
                <a:cs typeface="Times New Roman" panose="02020603050405020304" pitchFamily="18" charset="0"/>
              </a:rPr>
              <a:t>Main Span Design:</a:t>
            </a:r>
            <a:r>
              <a:rPr lang="en-IN" sz="4000" kern="100" dirty="0">
                <a:effectLst/>
                <a:latin typeface="Times New Roman" panose="02020603050405020304" pitchFamily="18" charset="0"/>
                <a:ea typeface="Aptos" panose="020B0004020202020204" pitchFamily="34" charset="0"/>
                <a:cs typeface="Times New Roman" panose="02020603050405020304" pitchFamily="18" charset="0"/>
              </a:rPr>
              <a:t> The design type of the bridge's main span (e.g., arch, beam, suspension), which affects its structural performance and load-bearing capacity.</a:t>
            </a:r>
          </a:p>
          <a:p>
            <a:pPr algn="just">
              <a:lnSpc>
                <a:spcPct val="107000"/>
              </a:lnSpc>
              <a:spcAft>
                <a:spcPts val="800"/>
              </a:spcAft>
            </a:pPr>
            <a:r>
              <a:rPr lang="en-IN" sz="4000" b="1" kern="100" dirty="0">
                <a:effectLst/>
                <a:latin typeface="Times New Roman" panose="02020603050405020304" pitchFamily="18" charset="0"/>
                <a:ea typeface="Aptos" panose="020B0004020202020204" pitchFamily="34" charset="0"/>
                <a:cs typeface="Times New Roman" panose="02020603050405020304" pitchFamily="18" charset="0"/>
              </a:rPr>
              <a:t>Structure Length (ft.):</a:t>
            </a:r>
            <a:r>
              <a:rPr lang="en-IN" sz="4000" kern="100" dirty="0">
                <a:effectLst/>
                <a:latin typeface="Times New Roman" panose="02020603050405020304" pitchFamily="18" charset="0"/>
                <a:ea typeface="Aptos" panose="020B0004020202020204" pitchFamily="34" charset="0"/>
                <a:cs typeface="Times New Roman" panose="02020603050405020304" pitchFamily="18" charset="0"/>
              </a:rPr>
              <a:t> The total length of the bridge in feet, providing a measure of its size and scale.</a:t>
            </a:r>
          </a:p>
          <a:p>
            <a:pPr algn="just">
              <a:lnSpc>
                <a:spcPct val="107000"/>
              </a:lnSpc>
              <a:spcAft>
                <a:spcPts val="800"/>
              </a:spcAft>
            </a:pPr>
            <a:r>
              <a:rPr lang="en-IN" sz="4000" b="1" kern="100" dirty="0">
                <a:effectLst/>
                <a:latin typeface="Times New Roman" panose="02020603050405020304" pitchFamily="18" charset="0"/>
                <a:ea typeface="Aptos" panose="020B0004020202020204" pitchFamily="34" charset="0"/>
                <a:cs typeface="Times New Roman" panose="02020603050405020304" pitchFamily="18" charset="0"/>
              </a:rPr>
              <a:t>Bridge Condition (CAT10):</a:t>
            </a:r>
            <a:r>
              <a:rPr lang="en-IN" sz="4000" kern="100" dirty="0">
                <a:effectLst/>
                <a:latin typeface="Times New Roman" panose="02020603050405020304" pitchFamily="18" charset="0"/>
                <a:ea typeface="Aptos" panose="020B0004020202020204" pitchFamily="34" charset="0"/>
                <a:cs typeface="Times New Roman" panose="02020603050405020304" pitchFamily="18" charset="0"/>
              </a:rPr>
              <a:t> A categorical assessment of the bridge's condition, indicating its overall health and need for maintenance or repair.</a:t>
            </a:r>
          </a:p>
          <a:p>
            <a:pPr algn="just">
              <a:lnSpc>
                <a:spcPct val="107000"/>
              </a:lnSpc>
              <a:spcAft>
                <a:spcPts val="800"/>
              </a:spcAft>
            </a:pPr>
            <a:r>
              <a:rPr lang="en-IN" sz="4000" b="1" kern="100" dirty="0">
                <a:effectLst/>
                <a:latin typeface="Times New Roman" panose="02020603050405020304" pitchFamily="18" charset="0"/>
                <a:ea typeface="Aptos" panose="020B0004020202020204" pitchFamily="34" charset="0"/>
                <a:cs typeface="Times New Roman" panose="02020603050405020304" pitchFamily="18" charset="0"/>
              </a:rPr>
              <a:t>Bridge Age (yr):</a:t>
            </a:r>
            <a:r>
              <a:rPr lang="en-IN" sz="4000" kern="100" dirty="0">
                <a:effectLst/>
                <a:latin typeface="Times New Roman" panose="02020603050405020304" pitchFamily="18" charset="0"/>
                <a:ea typeface="Aptos" panose="020B0004020202020204" pitchFamily="34" charset="0"/>
                <a:cs typeface="Times New Roman" panose="02020603050405020304" pitchFamily="18" charset="0"/>
              </a:rPr>
              <a:t> The age of the bridge calculated from the year built, which can correlate with deterioration and maintenance needs.</a:t>
            </a:r>
          </a:p>
          <a:p>
            <a:pPr algn="just">
              <a:lnSpc>
                <a:spcPct val="107000"/>
              </a:lnSpc>
              <a:spcAft>
                <a:spcPts val="800"/>
              </a:spcAft>
            </a:pPr>
            <a:r>
              <a:rPr lang="en-IN" sz="4000" b="1" kern="100" dirty="0">
                <a:effectLst/>
                <a:latin typeface="Times New Roman" panose="02020603050405020304" pitchFamily="18" charset="0"/>
                <a:ea typeface="Aptos" panose="020B0004020202020204" pitchFamily="34" charset="0"/>
                <a:cs typeface="Times New Roman" panose="02020603050405020304" pitchFamily="18" charset="0"/>
              </a:rPr>
              <a:t>Deck Area (sq. ft.):</a:t>
            </a:r>
            <a:r>
              <a:rPr lang="en-IN" sz="4000" kern="100" dirty="0">
                <a:effectLst/>
                <a:latin typeface="Times New Roman" panose="02020603050405020304" pitchFamily="18" charset="0"/>
                <a:ea typeface="Aptos" panose="020B0004020202020204" pitchFamily="34" charset="0"/>
                <a:cs typeface="Times New Roman" panose="02020603050405020304" pitchFamily="18" charset="0"/>
              </a:rPr>
              <a:t> The total area of the bridge deck in square feet, relevant for evaluating the bridge's capacity to handle traffic loads.</a:t>
            </a:r>
          </a:p>
          <a:p>
            <a:endParaRPr lang="en-IN" dirty="0"/>
          </a:p>
        </p:txBody>
      </p:sp>
    </p:spTree>
    <p:extLst>
      <p:ext uri="{BB962C8B-B14F-4D97-AF65-F5344CB8AC3E}">
        <p14:creationId xmlns:p14="http://schemas.microsoft.com/office/powerpoint/2010/main" val="1128028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4FC65-771F-01F0-638C-312F6AB10F30}"/>
              </a:ext>
            </a:extLst>
          </p:cNvPr>
          <p:cNvSpPr>
            <a:spLocks noGrp="1"/>
          </p:cNvSpPr>
          <p:nvPr>
            <p:ph type="title"/>
          </p:nvPr>
        </p:nvSpPr>
        <p:spPr>
          <a:xfrm>
            <a:off x="677334" y="609600"/>
            <a:ext cx="8596668" cy="1320800"/>
          </a:xfrm>
        </p:spPr>
        <p:txBody>
          <a:bodyPr anchor="t">
            <a:normAutofit/>
          </a:bodyPr>
          <a:lstStyle/>
          <a:p>
            <a:r>
              <a:rPr lang="en-IN" b="1" dirty="0">
                <a:latin typeface="Times New Roman" panose="02020603050405020304" pitchFamily="18" charset="0"/>
                <a:cs typeface="Times New Roman" panose="02020603050405020304" pitchFamily="18" charset="0"/>
              </a:rPr>
              <a:t>The System:</a:t>
            </a:r>
          </a:p>
        </p:txBody>
      </p:sp>
      <p:pic>
        <p:nvPicPr>
          <p:cNvPr id="4" name="Picture 3" descr="A diagram of a flowchart&#10;&#10;Description automatically generated">
            <a:extLst>
              <a:ext uri="{FF2B5EF4-FFF2-40B4-BE49-F238E27FC236}">
                <a16:creationId xmlns:a16="http://schemas.microsoft.com/office/drawing/2014/main" id="{4F763E09-99C3-8DC4-0FBD-0D265E2A26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2258" y="1600200"/>
            <a:ext cx="6610069" cy="4015617"/>
          </a:xfrm>
          <a:prstGeom prst="rect">
            <a:avLst/>
          </a:prstGeom>
        </p:spPr>
      </p:pic>
      <p:sp>
        <p:nvSpPr>
          <p:cNvPr id="3" name="Content Placeholder 2">
            <a:extLst>
              <a:ext uri="{FF2B5EF4-FFF2-40B4-BE49-F238E27FC236}">
                <a16:creationId xmlns:a16="http://schemas.microsoft.com/office/drawing/2014/main" id="{C5945CDC-AA17-0C78-4976-32DC7C2F9F17}"/>
              </a:ext>
            </a:extLst>
          </p:cNvPr>
          <p:cNvSpPr>
            <a:spLocks noGrp="1"/>
          </p:cNvSpPr>
          <p:nvPr>
            <p:ph idx="1"/>
          </p:nvPr>
        </p:nvSpPr>
        <p:spPr>
          <a:xfrm>
            <a:off x="7376159" y="2367627"/>
            <a:ext cx="2927185" cy="3880773"/>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Software/Hardware Platforms:</a:t>
            </a: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Windows 11 </a:t>
            </a:r>
          </a:p>
          <a:p>
            <a:pPr>
              <a:buFont typeface="Wingdings" panose="05000000000000000000" pitchFamily="2" charset="2"/>
              <a:buChar char="§"/>
            </a:pPr>
            <a:r>
              <a:rPr lang="en-IN" sz="1600" dirty="0" err="1">
                <a:latin typeface="Times New Roman" panose="02020603050405020304" pitchFamily="18" charset="0"/>
                <a:cs typeface="Times New Roman" panose="02020603050405020304" pitchFamily="18" charset="0"/>
              </a:rPr>
              <a:t>DataBricks</a:t>
            </a:r>
            <a:r>
              <a:rPr lang="en-IN" sz="1600" dirty="0">
                <a:latin typeface="Times New Roman" panose="02020603050405020304" pitchFamily="18" charset="0"/>
                <a:cs typeface="Times New Roman" panose="02020603050405020304" pitchFamily="18" charset="0"/>
              </a:rPr>
              <a:t> DBFS</a:t>
            </a: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Spark with Python</a:t>
            </a: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Spark with </a:t>
            </a:r>
            <a:r>
              <a:rPr lang="en-IN" sz="1600" dirty="0" err="1">
                <a:latin typeface="Times New Roman" panose="02020603050405020304" pitchFamily="18" charset="0"/>
                <a:cs typeface="Times New Roman" panose="02020603050405020304" pitchFamily="18" charset="0"/>
              </a:rPr>
              <a:t>Mllib</a:t>
            </a:r>
            <a:endParaRPr lang="en-IN"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Databricks</a:t>
            </a:r>
          </a:p>
          <a:p>
            <a:pPr>
              <a:buFont typeface="Wingdings" panose="05000000000000000000" pitchFamily="2" charset="2"/>
              <a:buChar char="§"/>
            </a:pPr>
            <a:endParaRPr lang="en-IN" sz="1500" dirty="0"/>
          </a:p>
          <a:p>
            <a:pPr>
              <a:buFont typeface="Wingdings" panose="05000000000000000000" pitchFamily="2" charset="2"/>
              <a:buChar char="§"/>
            </a:pPr>
            <a:endParaRPr lang="en-IN" sz="1500" dirty="0"/>
          </a:p>
          <a:p>
            <a:pPr>
              <a:buFont typeface="Wingdings" panose="05000000000000000000" pitchFamily="2" charset="2"/>
              <a:buChar char="§"/>
            </a:pPr>
            <a:endParaRPr lang="en-IN" sz="1500" dirty="0"/>
          </a:p>
          <a:p>
            <a:pPr>
              <a:buFont typeface="Wingdings" panose="05000000000000000000" pitchFamily="2" charset="2"/>
              <a:buChar char="§"/>
            </a:pPr>
            <a:endParaRPr lang="en-IN" sz="1500" dirty="0"/>
          </a:p>
          <a:p>
            <a:pPr marL="0" indent="0">
              <a:buNone/>
            </a:pPr>
            <a:endParaRPr lang="en-IN" sz="1500" dirty="0"/>
          </a:p>
          <a:p>
            <a:endParaRPr lang="en-IN" sz="1500" dirty="0"/>
          </a:p>
        </p:txBody>
      </p:sp>
    </p:spTree>
    <p:extLst>
      <p:ext uri="{BB962C8B-B14F-4D97-AF65-F5344CB8AC3E}">
        <p14:creationId xmlns:p14="http://schemas.microsoft.com/office/powerpoint/2010/main" val="1331379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23D8-BC6B-9655-099D-8BA223C7366D}"/>
              </a:ext>
            </a:extLst>
          </p:cNvPr>
          <p:cNvSpPr>
            <a:spLocks noGrp="1"/>
          </p:cNvSpPr>
          <p:nvPr>
            <p:ph type="title"/>
          </p:nvPr>
        </p:nvSpPr>
        <p:spPr>
          <a:xfrm>
            <a:off x="677334" y="1071418"/>
            <a:ext cx="8596668" cy="1320800"/>
          </a:xfrm>
        </p:spPr>
        <p:txBody>
          <a:bodyPr/>
          <a:lstStyle/>
          <a:p>
            <a:r>
              <a:rPr lang="en-IN" b="1" dirty="0">
                <a:solidFill>
                  <a:schemeClr val="tx1"/>
                </a:solidFill>
                <a:latin typeface="Times New Roman" panose="02020603050405020304" pitchFamily="18" charset="0"/>
                <a:cs typeface="Times New Roman" panose="02020603050405020304" pitchFamily="18" charset="0"/>
              </a:rPr>
              <a:t>Data Preprocessing:</a:t>
            </a:r>
          </a:p>
        </p:txBody>
      </p:sp>
      <p:sp>
        <p:nvSpPr>
          <p:cNvPr id="3" name="Content Placeholder 2">
            <a:extLst>
              <a:ext uri="{FF2B5EF4-FFF2-40B4-BE49-F238E27FC236}">
                <a16:creationId xmlns:a16="http://schemas.microsoft.com/office/drawing/2014/main" id="{55980345-E8EF-6CBE-F14F-0E7329E0F5F6}"/>
              </a:ext>
            </a:extLst>
          </p:cNvPr>
          <p:cNvSpPr>
            <a:spLocks noGrp="1"/>
          </p:cNvSpPr>
          <p:nvPr>
            <p:ph idx="1"/>
          </p:nvPr>
        </p:nvSpPr>
        <p:spPr>
          <a:xfrm>
            <a:off x="677334" y="2160590"/>
            <a:ext cx="8596668" cy="3251920"/>
          </a:xfrm>
        </p:spPr>
        <p:txBody>
          <a:bodyPr/>
          <a:lstStyle/>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Handled missing values by imputing them mean and  removed duplicates, and corrected the inconsistencies in the data, and identified outliers using methods like IQR, Percentile.</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Used statistical and machine learning techniques to identify and remove or cap outliers that could distort analysis or models.</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Predicted the bridge deterioration based on traffic volume using the DBFS, </a:t>
            </a:r>
            <a:r>
              <a:rPr lang="en-US" sz="2000" dirty="0" err="1">
                <a:latin typeface="Times New Roman" panose="02020603050405020304" pitchFamily="18" charset="0"/>
                <a:cs typeface="Times New Roman" panose="02020603050405020304" pitchFamily="18" charset="0"/>
              </a:rPr>
              <a:t>Pyspark,Mlib</a:t>
            </a: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dirty="0"/>
          </a:p>
          <a:p>
            <a:pPr>
              <a:buFont typeface="Wingdings" panose="05000000000000000000" pitchFamily="2" charset="2"/>
              <a:buChar char="§"/>
            </a:pPr>
            <a:endParaRPr lang="en-IN" dirty="0"/>
          </a:p>
        </p:txBody>
      </p:sp>
    </p:spTree>
    <p:extLst>
      <p:ext uri="{BB962C8B-B14F-4D97-AF65-F5344CB8AC3E}">
        <p14:creationId xmlns:p14="http://schemas.microsoft.com/office/powerpoint/2010/main" val="2997813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43697-1B76-2287-3C45-48E4744752FD}"/>
              </a:ext>
            </a:extLst>
          </p:cNvPr>
          <p:cNvSpPr>
            <a:spLocks noGrp="1"/>
          </p:cNvSpPr>
          <p:nvPr>
            <p:ph type="title"/>
          </p:nvPr>
        </p:nvSpPr>
        <p:spPr>
          <a:xfrm>
            <a:off x="677334" y="609600"/>
            <a:ext cx="8596668" cy="1320800"/>
          </a:xfrm>
        </p:spPr>
        <p:txBody>
          <a:bodyPr anchor="t">
            <a:normAutofit/>
          </a:bodyPr>
          <a:lstStyle/>
          <a:p>
            <a:r>
              <a:rPr lang="en-IN" b="1" dirty="0">
                <a:solidFill>
                  <a:schemeClr val="tx1"/>
                </a:solidFill>
                <a:latin typeface="Times New Roman" panose="02020603050405020304" pitchFamily="18" charset="0"/>
                <a:cs typeface="Times New Roman" panose="02020603050405020304" pitchFamily="18" charset="0"/>
              </a:rPr>
              <a:t>Experimental Results and Analysis </a:t>
            </a:r>
          </a:p>
        </p:txBody>
      </p:sp>
      <p:pic>
        <p:nvPicPr>
          <p:cNvPr id="13" name="Content Placeholder 12" descr="A graph of a bridge age&#10;&#10;Description automatically generated">
            <a:extLst>
              <a:ext uri="{FF2B5EF4-FFF2-40B4-BE49-F238E27FC236}">
                <a16:creationId xmlns:a16="http://schemas.microsoft.com/office/drawing/2014/main" id="{36B975E0-DE43-6A5C-5052-AB42AFF25FCC}"/>
              </a:ext>
            </a:extLst>
          </p:cNvPr>
          <p:cNvPicPr>
            <a:picLocks noChangeAspect="1"/>
          </p:cNvPicPr>
          <p:nvPr/>
        </p:nvPicPr>
        <p:blipFill>
          <a:blip r:embed="rId2"/>
          <a:stretch>
            <a:fillRect/>
          </a:stretch>
        </p:blipFill>
        <p:spPr>
          <a:xfrm>
            <a:off x="817474" y="2159331"/>
            <a:ext cx="5283289" cy="3011474"/>
          </a:xfrm>
          <a:prstGeom prst="rect">
            <a:avLst/>
          </a:prstGeom>
        </p:spPr>
      </p:pic>
      <p:sp>
        <p:nvSpPr>
          <p:cNvPr id="40" name="Content Placeholder 16">
            <a:extLst>
              <a:ext uri="{FF2B5EF4-FFF2-40B4-BE49-F238E27FC236}">
                <a16:creationId xmlns:a16="http://schemas.microsoft.com/office/drawing/2014/main" id="{BBD8149A-4C88-02D2-F455-31B45A57F5AC}"/>
              </a:ext>
            </a:extLst>
          </p:cNvPr>
          <p:cNvSpPr>
            <a:spLocks noGrp="1"/>
          </p:cNvSpPr>
          <p:nvPr>
            <p:ph idx="1"/>
          </p:nvPr>
        </p:nvSpPr>
        <p:spPr>
          <a:xfrm>
            <a:off x="1995525" y="5414672"/>
            <a:ext cx="2927185" cy="3880773"/>
          </a:xfrm>
        </p:spPr>
        <p:txBody>
          <a:bodyPr>
            <a:normAutofit/>
          </a:bodyPr>
          <a:lstStyle/>
          <a:p>
            <a:pPr marL="0" indent="0">
              <a:buNone/>
            </a:pPr>
            <a:r>
              <a:rPr lang="en-IN" sz="1600" b="1" dirty="0">
                <a:solidFill>
                  <a:schemeClr val="tx1"/>
                </a:solidFill>
                <a:latin typeface="Times New Roman" panose="02020603050405020304" pitchFamily="18" charset="0"/>
                <a:cs typeface="Times New Roman" panose="02020603050405020304" pitchFamily="18" charset="0"/>
              </a:rPr>
              <a:t>Distribution of Bridge Ages </a:t>
            </a:r>
            <a:endParaRPr lang="en-US" sz="1500" b="1" dirty="0">
              <a:solidFill>
                <a:schemeClr val="tx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8C8495D-0A4C-87D1-A28A-3ED64B91A91D}"/>
              </a:ext>
            </a:extLst>
          </p:cNvPr>
          <p:cNvSpPr txBox="1"/>
          <p:nvPr/>
        </p:nvSpPr>
        <p:spPr>
          <a:xfrm>
            <a:off x="6400800" y="2429164"/>
            <a:ext cx="3482109"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x-axis represents the age of the bridge in years, and the y-axis represents the count of bridges in each age. The majority of bridges in the data are between 50 and 70 years old.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6260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664F850-BA8B-47AE-B11A-225CAB8969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4" name="Straight Connector 13">
              <a:extLst>
                <a:ext uri="{FF2B5EF4-FFF2-40B4-BE49-F238E27FC236}">
                  <a16:creationId xmlns:a16="http://schemas.microsoft.com/office/drawing/2014/main" id="{634FC909-7343-4DEC-920F-098F56B476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4F22DB2-7E27-4CF7-8B17-254ECB9AE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C6E593B3-91A3-4687-8B8D-FE37A3714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5">
              <a:extLst>
                <a:ext uri="{FF2B5EF4-FFF2-40B4-BE49-F238E27FC236}">
                  <a16:creationId xmlns:a16="http://schemas.microsoft.com/office/drawing/2014/main" id="{0C25B431-5C97-4B8D-B0A3-BFB8133C7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Isosceles Triangle 17">
              <a:extLst>
                <a:ext uri="{FF2B5EF4-FFF2-40B4-BE49-F238E27FC236}">
                  <a16:creationId xmlns:a16="http://schemas.microsoft.com/office/drawing/2014/main" id="{CA37B366-497E-4CB8-A678-A770CE2B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27">
              <a:extLst>
                <a:ext uri="{FF2B5EF4-FFF2-40B4-BE49-F238E27FC236}">
                  <a16:creationId xmlns:a16="http://schemas.microsoft.com/office/drawing/2014/main" id="{CF707EDC-52B2-4D5C-8EC3-71C66EE8B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28">
              <a:extLst>
                <a:ext uri="{FF2B5EF4-FFF2-40B4-BE49-F238E27FC236}">
                  <a16:creationId xmlns:a16="http://schemas.microsoft.com/office/drawing/2014/main" id="{BF8E2DE7-7466-4EDF-8D69-BCA91A88D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9">
              <a:extLst>
                <a:ext uri="{FF2B5EF4-FFF2-40B4-BE49-F238E27FC236}">
                  <a16:creationId xmlns:a16="http://schemas.microsoft.com/office/drawing/2014/main" id="{229C2E15-76CD-409E-9D6B-10DAD8881E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Isosceles Triangle 21">
              <a:extLst>
                <a:ext uri="{FF2B5EF4-FFF2-40B4-BE49-F238E27FC236}">
                  <a16:creationId xmlns:a16="http://schemas.microsoft.com/office/drawing/2014/main" id="{89A24369-AC96-4A98-AD98-47A7217EC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a:extLst>
                <a:ext uri="{FF2B5EF4-FFF2-40B4-BE49-F238E27FC236}">
                  <a16:creationId xmlns:a16="http://schemas.microsoft.com/office/drawing/2014/main" id="{7D0DF9A3-4628-42F6-B0A4-44D97617E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5" name="Rectangle 24">
            <a:extLst>
              <a:ext uri="{FF2B5EF4-FFF2-40B4-BE49-F238E27FC236}">
                <a16:creationId xmlns:a16="http://schemas.microsoft.com/office/drawing/2014/main" id="{7459C506-5F4B-4B75-9218-C7C3F87FA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BC659EEB-C3AE-4544-8263-417009DCDF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8" name="Straight Connector 27">
              <a:extLst>
                <a:ext uri="{FF2B5EF4-FFF2-40B4-BE49-F238E27FC236}">
                  <a16:creationId xmlns:a16="http://schemas.microsoft.com/office/drawing/2014/main" id="{D99DB6C6-36F9-4576-A558-95153EADBE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694E7916-EDE4-4B50-A4A1-6B28FDD4D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5">
              <a:extLst>
                <a:ext uri="{FF2B5EF4-FFF2-40B4-BE49-F238E27FC236}">
                  <a16:creationId xmlns:a16="http://schemas.microsoft.com/office/drawing/2014/main" id="{6F6CB7BB-4370-4173-97F8-F636C0F14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a:extLst>
                <a:ext uri="{FF2B5EF4-FFF2-40B4-BE49-F238E27FC236}">
                  <a16:creationId xmlns:a16="http://schemas.microsoft.com/office/drawing/2014/main" id="{B0F590BB-1F51-4138-A2D4-2E483C84FB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Rectangle 27">
              <a:extLst>
                <a:ext uri="{FF2B5EF4-FFF2-40B4-BE49-F238E27FC236}">
                  <a16:creationId xmlns:a16="http://schemas.microsoft.com/office/drawing/2014/main" id="{4A492863-9797-45A2-BAB3-514F10C5F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3" name="Rectangle 28">
              <a:extLst>
                <a:ext uri="{FF2B5EF4-FFF2-40B4-BE49-F238E27FC236}">
                  <a16:creationId xmlns:a16="http://schemas.microsoft.com/office/drawing/2014/main" id="{7C1E33F6-6D0F-4ECF-92F4-6F71D8BAF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4" name="Rectangle 29">
              <a:extLst>
                <a:ext uri="{FF2B5EF4-FFF2-40B4-BE49-F238E27FC236}">
                  <a16:creationId xmlns:a16="http://schemas.microsoft.com/office/drawing/2014/main" id="{73EEEA64-7411-474B-BD0E-60C24B3F4E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5" name="Isosceles Triangle 34">
              <a:extLst>
                <a:ext uri="{FF2B5EF4-FFF2-40B4-BE49-F238E27FC236}">
                  <a16:creationId xmlns:a16="http://schemas.microsoft.com/office/drawing/2014/main" id="{4F82A6DD-92BB-4443-B5A5-05240DD55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6" name="Isosceles Triangle 35">
              <a:extLst>
                <a:ext uri="{FF2B5EF4-FFF2-40B4-BE49-F238E27FC236}">
                  <a16:creationId xmlns:a16="http://schemas.microsoft.com/office/drawing/2014/main" id="{79832BCB-1DCF-46AC-9FFA-170791668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useBgFill="1">
        <p:nvSpPr>
          <p:cNvPr id="38" name="Rectangle 37">
            <a:extLst>
              <a:ext uri="{FF2B5EF4-FFF2-40B4-BE49-F238E27FC236}">
                <a16:creationId xmlns:a16="http://schemas.microsoft.com/office/drawing/2014/main" id="{4E74DA95-CD7A-4D5E-9D27-67A759CE7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8" descr="A graph with red and blue squares&#10;&#10;Description automatically generated">
            <a:extLst>
              <a:ext uri="{FF2B5EF4-FFF2-40B4-BE49-F238E27FC236}">
                <a16:creationId xmlns:a16="http://schemas.microsoft.com/office/drawing/2014/main" id="{F1D14C15-F4EE-4FE6-2D74-5293B11B03FC}"/>
              </a:ext>
            </a:extLst>
          </p:cNvPr>
          <p:cNvPicPr>
            <a:picLocks noGrp="1" noChangeAspect="1"/>
          </p:cNvPicPr>
          <p:nvPr>
            <p:ph idx="1"/>
          </p:nvPr>
        </p:nvPicPr>
        <p:blipFill>
          <a:blip r:embed="rId2"/>
          <a:stretch>
            <a:fillRect/>
          </a:stretch>
        </p:blipFill>
        <p:spPr>
          <a:xfrm>
            <a:off x="1192795" y="1966576"/>
            <a:ext cx="4650004" cy="3029527"/>
          </a:xfrm>
          <a:prstGeom prst="rect">
            <a:avLst/>
          </a:prstGeom>
        </p:spPr>
      </p:pic>
      <p:cxnSp>
        <p:nvCxnSpPr>
          <p:cNvPr id="40" name="Straight Connector 39">
            <a:extLst>
              <a:ext uri="{FF2B5EF4-FFF2-40B4-BE49-F238E27FC236}">
                <a16:creationId xmlns:a16="http://schemas.microsoft.com/office/drawing/2014/main" id="{14AA3B5C-0C55-4FFF-9C45-8F9F7C074A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1305" y="1650669"/>
            <a:ext cx="0" cy="3431969"/>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descr="A graph of different colored squares&#10;&#10;Description automatically generated">
            <a:extLst>
              <a:ext uri="{FF2B5EF4-FFF2-40B4-BE49-F238E27FC236}">
                <a16:creationId xmlns:a16="http://schemas.microsoft.com/office/drawing/2014/main" id="{5AD4A499-1F62-EF33-F83F-A3DDC4A70AC3}"/>
              </a:ext>
            </a:extLst>
          </p:cNvPr>
          <p:cNvPicPr>
            <a:picLocks noChangeAspect="1"/>
          </p:cNvPicPr>
          <p:nvPr/>
        </p:nvPicPr>
        <p:blipFill>
          <a:blip r:embed="rId3"/>
          <a:stretch>
            <a:fillRect/>
          </a:stretch>
        </p:blipFill>
        <p:spPr>
          <a:xfrm>
            <a:off x="6338625" y="1946516"/>
            <a:ext cx="4650004" cy="2927928"/>
          </a:xfrm>
          <a:prstGeom prst="rect">
            <a:avLst/>
          </a:prstGeom>
        </p:spPr>
      </p:pic>
      <p:sp>
        <p:nvSpPr>
          <p:cNvPr id="10" name="TextBox 9">
            <a:extLst>
              <a:ext uri="{FF2B5EF4-FFF2-40B4-BE49-F238E27FC236}">
                <a16:creationId xmlns:a16="http://schemas.microsoft.com/office/drawing/2014/main" id="{4E6D146E-2E1D-AA3C-EB61-76BD18544670}"/>
              </a:ext>
            </a:extLst>
          </p:cNvPr>
          <p:cNvSpPr txBox="1"/>
          <p:nvPr/>
        </p:nvSpPr>
        <p:spPr>
          <a:xfrm>
            <a:off x="1218693" y="1080215"/>
            <a:ext cx="4275132"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Bridge Count By Age Range and Condition</a:t>
            </a:r>
          </a:p>
        </p:txBody>
      </p:sp>
      <p:sp>
        <p:nvSpPr>
          <p:cNvPr id="11" name="TextBox 10">
            <a:extLst>
              <a:ext uri="{FF2B5EF4-FFF2-40B4-BE49-F238E27FC236}">
                <a16:creationId xmlns:a16="http://schemas.microsoft.com/office/drawing/2014/main" id="{B3244CAA-D95B-5DD2-1379-4C1153DEA418}"/>
              </a:ext>
            </a:extLst>
          </p:cNvPr>
          <p:cNvSpPr txBox="1"/>
          <p:nvPr/>
        </p:nvSpPr>
        <p:spPr>
          <a:xfrm>
            <a:off x="6303759" y="972786"/>
            <a:ext cx="447040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Bridge Condition Distribution By Main Span Material</a:t>
            </a:r>
          </a:p>
        </p:txBody>
      </p:sp>
    </p:spTree>
    <p:extLst>
      <p:ext uri="{BB962C8B-B14F-4D97-AF65-F5344CB8AC3E}">
        <p14:creationId xmlns:p14="http://schemas.microsoft.com/office/powerpoint/2010/main" val="1538195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7664F850-BA8B-47AE-B11A-225CAB8969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6" name="Straight Connector 15">
              <a:extLst>
                <a:ext uri="{FF2B5EF4-FFF2-40B4-BE49-F238E27FC236}">
                  <a16:creationId xmlns:a16="http://schemas.microsoft.com/office/drawing/2014/main" id="{634FC909-7343-4DEC-920F-098F56B476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4F22DB2-7E27-4CF7-8B17-254ECB9AE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C6E593B3-91A3-4687-8B8D-FE37A3714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25">
              <a:extLst>
                <a:ext uri="{FF2B5EF4-FFF2-40B4-BE49-F238E27FC236}">
                  <a16:creationId xmlns:a16="http://schemas.microsoft.com/office/drawing/2014/main" id="{0C25B431-5C97-4B8D-B0A3-BFB8133C7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CA37B366-497E-4CB8-A678-A770CE2B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7">
              <a:extLst>
                <a:ext uri="{FF2B5EF4-FFF2-40B4-BE49-F238E27FC236}">
                  <a16:creationId xmlns:a16="http://schemas.microsoft.com/office/drawing/2014/main" id="{CF707EDC-52B2-4D5C-8EC3-71C66EE8B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8">
              <a:extLst>
                <a:ext uri="{FF2B5EF4-FFF2-40B4-BE49-F238E27FC236}">
                  <a16:creationId xmlns:a16="http://schemas.microsoft.com/office/drawing/2014/main" id="{BF8E2DE7-7466-4EDF-8D69-BCA91A88D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9">
              <a:extLst>
                <a:ext uri="{FF2B5EF4-FFF2-40B4-BE49-F238E27FC236}">
                  <a16:creationId xmlns:a16="http://schemas.microsoft.com/office/drawing/2014/main" id="{229C2E15-76CD-409E-9D6B-10DAD8881E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a:extLst>
                <a:ext uri="{FF2B5EF4-FFF2-40B4-BE49-F238E27FC236}">
                  <a16:creationId xmlns:a16="http://schemas.microsoft.com/office/drawing/2014/main" id="{89A24369-AC96-4A98-AD98-47A7217EC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Isosceles Triangle 24">
              <a:extLst>
                <a:ext uri="{FF2B5EF4-FFF2-40B4-BE49-F238E27FC236}">
                  <a16:creationId xmlns:a16="http://schemas.microsoft.com/office/drawing/2014/main" id="{7D0DF9A3-4628-42F6-B0A4-44D97617E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7" name="Rectangle 26">
            <a:extLst>
              <a:ext uri="{FF2B5EF4-FFF2-40B4-BE49-F238E27FC236}">
                <a16:creationId xmlns:a16="http://schemas.microsoft.com/office/drawing/2014/main" id="{7459C506-5F4B-4B75-9218-C7C3F87FA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BC659EEB-C3AE-4544-8263-417009DCDF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0" name="Straight Connector 29">
              <a:extLst>
                <a:ext uri="{FF2B5EF4-FFF2-40B4-BE49-F238E27FC236}">
                  <a16:creationId xmlns:a16="http://schemas.microsoft.com/office/drawing/2014/main" id="{D99DB6C6-36F9-4576-A558-95153EADBE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1" name="Rectangle 23">
              <a:extLst>
                <a:ext uri="{FF2B5EF4-FFF2-40B4-BE49-F238E27FC236}">
                  <a16:creationId xmlns:a16="http://schemas.microsoft.com/office/drawing/2014/main" id="{694E7916-EDE4-4B50-A4A1-6B28FDD4D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Rectangle 25">
              <a:extLst>
                <a:ext uri="{FF2B5EF4-FFF2-40B4-BE49-F238E27FC236}">
                  <a16:creationId xmlns:a16="http://schemas.microsoft.com/office/drawing/2014/main" id="{6F6CB7BB-4370-4173-97F8-F636C0F14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3" name="Isosceles Triangle 32">
              <a:extLst>
                <a:ext uri="{FF2B5EF4-FFF2-40B4-BE49-F238E27FC236}">
                  <a16:creationId xmlns:a16="http://schemas.microsoft.com/office/drawing/2014/main" id="{B0F590BB-1F51-4138-A2D4-2E483C84FB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4" name="Rectangle 27">
              <a:extLst>
                <a:ext uri="{FF2B5EF4-FFF2-40B4-BE49-F238E27FC236}">
                  <a16:creationId xmlns:a16="http://schemas.microsoft.com/office/drawing/2014/main" id="{4A492863-9797-45A2-BAB3-514F10C5F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5" name="Rectangle 28">
              <a:extLst>
                <a:ext uri="{FF2B5EF4-FFF2-40B4-BE49-F238E27FC236}">
                  <a16:creationId xmlns:a16="http://schemas.microsoft.com/office/drawing/2014/main" id="{7C1E33F6-6D0F-4ECF-92F4-6F71D8BAF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6" name="Rectangle 29">
              <a:extLst>
                <a:ext uri="{FF2B5EF4-FFF2-40B4-BE49-F238E27FC236}">
                  <a16:creationId xmlns:a16="http://schemas.microsoft.com/office/drawing/2014/main" id="{73EEEA64-7411-474B-BD0E-60C24B3F4E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7" name="Isosceles Triangle 36">
              <a:extLst>
                <a:ext uri="{FF2B5EF4-FFF2-40B4-BE49-F238E27FC236}">
                  <a16:creationId xmlns:a16="http://schemas.microsoft.com/office/drawing/2014/main" id="{4F82A6DD-92BB-4443-B5A5-05240DD55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8" name="Isosceles Triangle 37">
              <a:extLst>
                <a:ext uri="{FF2B5EF4-FFF2-40B4-BE49-F238E27FC236}">
                  <a16:creationId xmlns:a16="http://schemas.microsoft.com/office/drawing/2014/main" id="{79832BCB-1DCF-46AC-9FFA-170791668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useBgFill="1">
        <p:nvSpPr>
          <p:cNvPr id="40" name="Rectangle 39">
            <a:extLst>
              <a:ext uri="{FF2B5EF4-FFF2-40B4-BE49-F238E27FC236}">
                <a16:creationId xmlns:a16="http://schemas.microsoft.com/office/drawing/2014/main" id="{4E74DA95-CD7A-4D5E-9D27-67A759CE7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4" descr="A graph of a bar&#10;&#10;Description automatically generated with medium confidence">
            <a:extLst>
              <a:ext uri="{FF2B5EF4-FFF2-40B4-BE49-F238E27FC236}">
                <a16:creationId xmlns:a16="http://schemas.microsoft.com/office/drawing/2014/main" id="{3EC8CA2E-74FB-2702-8D46-338E2C5C9F01}"/>
              </a:ext>
            </a:extLst>
          </p:cNvPr>
          <p:cNvPicPr>
            <a:picLocks noGrp="1" noChangeAspect="1"/>
          </p:cNvPicPr>
          <p:nvPr>
            <p:ph idx="1"/>
          </p:nvPr>
        </p:nvPicPr>
        <p:blipFill>
          <a:blip r:embed="rId2"/>
          <a:stretch>
            <a:fillRect/>
          </a:stretch>
        </p:blipFill>
        <p:spPr>
          <a:xfrm>
            <a:off x="1124262" y="1712732"/>
            <a:ext cx="4650004" cy="3441003"/>
          </a:xfrm>
          <a:prstGeom prst="rect">
            <a:avLst/>
          </a:prstGeom>
        </p:spPr>
      </p:pic>
      <p:cxnSp>
        <p:nvCxnSpPr>
          <p:cNvPr id="42" name="Straight Connector 41">
            <a:extLst>
              <a:ext uri="{FF2B5EF4-FFF2-40B4-BE49-F238E27FC236}">
                <a16:creationId xmlns:a16="http://schemas.microsoft.com/office/drawing/2014/main" id="{14AA3B5C-0C55-4FFF-9C45-8F9F7C074A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1305" y="1650669"/>
            <a:ext cx="0" cy="3431969"/>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6" descr="A graph of blue bars&#10;&#10;Description automatically generated">
            <a:extLst>
              <a:ext uri="{FF2B5EF4-FFF2-40B4-BE49-F238E27FC236}">
                <a16:creationId xmlns:a16="http://schemas.microsoft.com/office/drawing/2014/main" id="{C44883DD-9FAE-260A-138E-CED4B54641FE}"/>
              </a:ext>
            </a:extLst>
          </p:cNvPr>
          <p:cNvPicPr>
            <a:picLocks noChangeAspect="1"/>
          </p:cNvPicPr>
          <p:nvPr/>
        </p:nvPicPr>
        <p:blipFill>
          <a:blip r:embed="rId3"/>
          <a:stretch>
            <a:fillRect/>
          </a:stretch>
        </p:blipFill>
        <p:spPr>
          <a:xfrm>
            <a:off x="6414367" y="1729533"/>
            <a:ext cx="4650004" cy="3407398"/>
          </a:xfrm>
          <a:prstGeom prst="rect">
            <a:avLst/>
          </a:prstGeom>
        </p:spPr>
      </p:pic>
      <p:sp>
        <p:nvSpPr>
          <p:cNvPr id="11" name="TextBox 10">
            <a:extLst>
              <a:ext uri="{FF2B5EF4-FFF2-40B4-BE49-F238E27FC236}">
                <a16:creationId xmlns:a16="http://schemas.microsoft.com/office/drawing/2014/main" id="{00C020D7-7F95-254A-81DD-06199D61B49C}"/>
              </a:ext>
            </a:extLst>
          </p:cNvPr>
          <p:cNvSpPr txBox="1"/>
          <p:nvPr/>
        </p:nvSpPr>
        <p:spPr>
          <a:xfrm>
            <a:off x="1124262" y="822036"/>
            <a:ext cx="4029629"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Distribution of Bridges by Main span Material</a:t>
            </a:r>
          </a:p>
        </p:txBody>
      </p:sp>
      <p:sp>
        <p:nvSpPr>
          <p:cNvPr id="12" name="TextBox 11">
            <a:extLst>
              <a:ext uri="{FF2B5EF4-FFF2-40B4-BE49-F238E27FC236}">
                <a16:creationId xmlns:a16="http://schemas.microsoft.com/office/drawing/2014/main" id="{5C240207-A47F-7194-0F46-AF4542E2EB9E}"/>
              </a:ext>
            </a:extLst>
          </p:cNvPr>
          <p:cNvSpPr txBox="1"/>
          <p:nvPr/>
        </p:nvSpPr>
        <p:spPr>
          <a:xfrm>
            <a:off x="6414367" y="794534"/>
            <a:ext cx="4309051"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The Impact of Traffic Volume on Bridge Count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3736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7664F850-BA8B-47AE-B11A-225CAB8969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7" name="Straight Connector 16">
              <a:extLst>
                <a:ext uri="{FF2B5EF4-FFF2-40B4-BE49-F238E27FC236}">
                  <a16:creationId xmlns:a16="http://schemas.microsoft.com/office/drawing/2014/main" id="{634FC909-7343-4DEC-920F-098F56B476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4F22DB2-7E27-4CF7-8B17-254ECB9AE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C6E593B3-91A3-4687-8B8D-FE37A3714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25">
              <a:extLst>
                <a:ext uri="{FF2B5EF4-FFF2-40B4-BE49-F238E27FC236}">
                  <a16:creationId xmlns:a16="http://schemas.microsoft.com/office/drawing/2014/main" id="{0C25B431-5C97-4B8D-B0A3-BFB8133C7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Isosceles Triangle 20">
              <a:extLst>
                <a:ext uri="{FF2B5EF4-FFF2-40B4-BE49-F238E27FC236}">
                  <a16:creationId xmlns:a16="http://schemas.microsoft.com/office/drawing/2014/main" id="{CA37B366-497E-4CB8-A678-A770CE2B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7">
              <a:extLst>
                <a:ext uri="{FF2B5EF4-FFF2-40B4-BE49-F238E27FC236}">
                  <a16:creationId xmlns:a16="http://schemas.microsoft.com/office/drawing/2014/main" id="{CF707EDC-52B2-4D5C-8EC3-71C66EE8B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8">
              <a:extLst>
                <a:ext uri="{FF2B5EF4-FFF2-40B4-BE49-F238E27FC236}">
                  <a16:creationId xmlns:a16="http://schemas.microsoft.com/office/drawing/2014/main" id="{BF8E2DE7-7466-4EDF-8D69-BCA91A88D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9">
              <a:extLst>
                <a:ext uri="{FF2B5EF4-FFF2-40B4-BE49-F238E27FC236}">
                  <a16:creationId xmlns:a16="http://schemas.microsoft.com/office/drawing/2014/main" id="{229C2E15-76CD-409E-9D6B-10DAD8881E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Isosceles Triangle 24">
              <a:extLst>
                <a:ext uri="{FF2B5EF4-FFF2-40B4-BE49-F238E27FC236}">
                  <a16:creationId xmlns:a16="http://schemas.microsoft.com/office/drawing/2014/main" id="{89A24369-AC96-4A98-AD98-47A7217EC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Isosceles Triangle 12">
              <a:extLst>
                <a:ext uri="{FF2B5EF4-FFF2-40B4-BE49-F238E27FC236}">
                  <a16:creationId xmlns:a16="http://schemas.microsoft.com/office/drawing/2014/main" id="{7D0DF9A3-4628-42F6-B0A4-44D97617E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15" name="Rectangle 14">
            <a:extLst>
              <a:ext uri="{FF2B5EF4-FFF2-40B4-BE49-F238E27FC236}">
                <a16:creationId xmlns:a16="http://schemas.microsoft.com/office/drawing/2014/main" id="{7459C506-5F4B-4B75-9218-C7C3F87FA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BC659EEB-C3AE-4544-8263-417009DCDF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1" name="Straight Connector 30">
              <a:extLst>
                <a:ext uri="{FF2B5EF4-FFF2-40B4-BE49-F238E27FC236}">
                  <a16:creationId xmlns:a16="http://schemas.microsoft.com/office/drawing/2014/main" id="{D99DB6C6-36F9-4576-A558-95153EADBE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 name="Rectangle 23">
              <a:extLst>
                <a:ext uri="{FF2B5EF4-FFF2-40B4-BE49-F238E27FC236}">
                  <a16:creationId xmlns:a16="http://schemas.microsoft.com/office/drawing/2014/main" id="{694E7916-EDE4-4B50-A4A1-6B28FDD4D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3" name="Rectangle 25">
              <a:extLst>
                <a:ext uri="{FF2B5EF4-FFF2-40B4-BE49-F238E27FC236}">
                  <a16:creationId xmlns:a16="http://schemas.microsoft.com/office/drawing/2014/main" id="{6F6CB7BB-4370-4173-97F8-F636C0F14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4" name="Isosceles Triangle 33">
              <a:extLst>
                <a:ext uri="{FF2B5EF4-FFF2-40B4-BE49-F238E27FC236}">
                  <a16:creationId xmlns:a16="http://schemas.microsoft.com/office/drawing/2014/main" id="{B0F590BB-1F51-4138-A2D4-2E483C84FB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5" name="Rectangle 27">
              <a:extLst>
                <a:ext uri="{FF2B5EF4-FFF2-40B4-BE49-F238E27FC236}">
                  <a16:creationId xmlns:a16="http://schemas.microsoft.com/office/drawing/2014/main" id="{4A492863-9797-45A2-BAB3-514F10C5F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6" name="Rectangle 28">
              <a:extLst>
                <a:ext uri="{FF2B5EF4-FFF2-40B4-BE49-F238E27FC236}">
                  <a16:creationId xmlns:a16="http://schemas.microsoft.com/office/drawing/2014/main" id="{7C1E33F6-6D0F-4ECF-92F4-6F71D8BAF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7" name="Rectangle 29">
              <a:extLst>
                <a:ext uri="{FF2B5EF4-FFF2-40B4-BE49-F238E27FC236}">
                  <a16:creationId xmlns:a16="http://schemas.microsoft.com/office/drawing/2014/main" id="{73EEEA64-7411-474B-BD0E-60C24B3F4E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8" name="Isosceles Triangle 37">
              <a:extLst>
                <a:ext uri="{FF2B5EF4-FFF2-40B4-BE49-F238E27FC236}">
                  <a16:creationId xmlns:a16="http://schemas.microsoft.com/office/drawing/2014/main" id="{4F82A6DD-92BB-4443-B5A5-05240DD55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a:extLst>
                <a:ext uri="{FF2B5EF4-FFF2-40B4-BE49-F238E27FC236}">
                  <a16:creationId xmlns:a16="http://schemas.microsoft.com/office/drawing/2014/main" id="{79832BCB-1DCF-46AC-9FFA-170791668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useBgFill="1">
        <p:nvSpPr>
          <p:cNvPr id="29" name="Rectangle 28">
            <a:extLst>
              <a:ext uri="{FF2B5EF4-FFF2-40B4-BE49-F238E27FC236}">
                <a16:creationId xmlns:a16="http://schemas.microsoft.com/office/drawing/2014/main" id="{4E74DA95-CD7A-4D5E-9D27-67A759CE7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graph of blue bars&#10;&#10;Description automatically generated with medium confidence">
            <a:extLst>
              <a:ext uri="{FF2B5EF4-FFF2-40B4-BE49-F238E27FC236}">
                <a16:creationId xmlns:a16="http://schemas.microsoft.com/office/drawing/2014/main" id="{D11C5591-1528-4356-FCF0-E6A2F6B3FB70}"/>
              </a:ext>
            </a:extLst>
          </p:cNvPr>
          <p:cNvPicPr>
            <a:picLocks noGrp="1" noChangeAspect="1"/>
          </p:cNvPicPr>
          <p:nvPr>
            <p:ph idx="1"/>
          </p:nvPr>
        </p:nvPicPr>
        <p:blipFill>
          <a:blip r:embed="rId2"/>
          <a:stretch>
            <a:fillRect/>
          </a:stretch>
        </p:blipFill>
        <p:spPr>
          <a:xfrm>
            <a:off x="1124262" y="1300044"/>
            <a:ext cx="4650004" cy="4266378"/>
          </a:xfrm>
          <a:prstGeom prst="rect">
            <a:avLst/>
          </a:prstGeom>
        </p:spPr>
      </p:pic>
      <p:cxnSp>
        <p:nvCxnSpPr>
          <p:cNvPr id="43" name="Straight Connector 42">
            <a:extLst>
              <a:ext uri="{FF2B5EF4-FFF2-40B4-BE49-F238E27FC236}">
                <a16:creationId xmlns:a16="http://schemas.microsoft.com/office/drawing/2014/main" id="{14AA3B5C-0C55-4FFF-9C45-8F9F7C074A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1305" y="1650669"/>
            <a:ext cx="0" cy="3431969"/>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descr="A graph of a bar chart&#10;&#10;Description automatically generated with medium confidence">
            <a:extLst>
              <a:ext uri="{FF2B5EF4-FFF2-40B4-BE49-F238E27FC236}">
                <a16:creationId xmlns:a16="http://schemas.microsoft.com/office/drawing/2014/main" id="{35CBC9F6-D338-9361-3463-3E88B71185D7}"/>
              </a:ext>
            </a:extLst>
          </p:cNvPr>
          <p:cNvPicPr>
            <a:picLocks noChangeAspect="1"/>
          </p:cNvPicPr>
          <p:nvPr/>
        </p:nvPicPr>
        <p:blipFill>
          <a:blip r:embed="rId3"/>
          <a:stretch>
            <a:fillRect/>
          </a:stretch>
        </p:blipFill>
        <p:spPr>
          <a:xfrm>
            <a:off x="6414367" y="1817356"/>
            <a:ext cx="4650004" cy="3231753"/>
          </a:xfrm>
          <a:prstGeom prst="rect">
            <a:avLst/>
          </a:prstGeom>
        </p:spPr>
      </p:pic>
      <p:sp>
        <p:nvSpPr>
          <p:cNvPr id="12" name="TextBox 11">
            <a:extLst>
              <a:ext uri="{FF2B5EF4-FFF2-40B4-BE49-F238E27FC236}">
                <a16:creationId xmlns:a16="http://schemas.microsoft.com/office/drawing/2014/main" id="{C4FCE9DA-D725-EB1F-DC7A-3BD74004410C}"/>
              </a:ext>
            </a:extLst>
          </p:cNvPr>
          <p:cNvSpPr txBox="1"/>
          <p:nvPr/>
        </p:nvSpPr>
        <p:spPr>
          <a:xfrm>
            <a:off x="6131846" y="700201"/>
            <a:ext cx="4568647"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Bridge Count by Traffic Volume and Condition</a:t>
            </a:r>
            <a:endParaRPr lang="en-IN" b="1"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451B774C-4942-6B3A-7786-80B625DD9D8F}"/>
              </a:ext>
            </a:extLst>
          </p:cNvPr>
          <p:cNvSpPr txBox="1"/>
          <p:nvPr/>
        </p:nvSpPr>
        <p:spPr>
          <a:xfrm>
            <a:off x="1121088" y="700200"/>
            <a:ext cx="4085047"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Distribution of Bridges by Main Span Design</a:t>
            </a:r>
          </a:p>
        </p:txBody>
      </p:sp>
    </p:spTree>
    <p:extLst>
      <p:ext uri="{BB962C8B-B14F-4D97-AF65-F5344CB8AC3E}">
        <p14:creationId xmlns:p14="http://schemas.microsoft.com/office/powerpoint/2010/main" val="3252268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7664F850-BA8B-47AE-B11A-225CAB8969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634FC909-7343-4DEC-920F-098F56B476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24F22DB2-7E27-4CF7-8B17-254ECB9AE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C6E593B3-91A3-4687-8B8D-FE37A3714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4" name="Rectangle 25">
              <a:extLst>
                <a:ext uri="{FF2B5EF4-FFF2-40B4-BE49-F238E27FC236}">
                  <a16:creationId xmlns:a16="http://schemas.microsoft.com/office/drawing/2014/main" id="{0C25B431-5C97-4B8D-B0A3-BFB8133C7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5" name="Isosceles Triangle 44">
              <a:extLst>
                <a:ext uri="{FF2B5EF4-FFF2-40B4-BE49-F238E27FC236}">
                  <a16:creationId xmlns:a16="http://schemas.microsoft.com/office/drawing/2014/main" id="{CA37B366-497E-4CB8-A678-A770CE2B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6" name="Rectangle 27">
              <a:extLst>
                <a:ext uri="{FF2B5EF4-FFF2-40B4-BE49-F238E27FC236}">
                  <a16:creationId xmlns:a16="http://schemas.microsoft.com/office/drawing/2014/main" id="{CF707EDC-52B2-4D5C-8EC3-71C66EE8B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7" name="Rectangle 28">
              <a:extLst>
                <a:ext uri="{FF2B5EF4-FFF2-40B4-BE49-F238E27FC236}">
                  <a16:creationId xmlns:a16="http://schemas.microsoft.com/office/drawing/2014/main" id="{BF8E2DE7-7466-4EDF-8D69-BCA91A88D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8" name="Rectangle 29">
              <a:extLst>
                <a:ext uri="{FF2B5EF4-FFF2-40B4-BE49-F238E27FC236}">
                  <a16:creationId xmlns:a16="http://schemas.microsoft.com/office/drawing/2014/main" id="{229C2E15-76CD-409E-9D6B-10DAD8881E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9" name="Isosceles Triangle 48">
              <a:extLst>
                <a:ext uri="{FF2B5EF4-FFF2-40B4-BE49-F238E27FC236}">
                  <a16:creationId xmlns:a16="http://schemas.microsoft.com/office/drawing/2014/main" id="{89A24369-AC96-4A98-AD98-47A7217EC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0" name="Isosceles Triangle 49">
              <a:extLst>
                <a:ext uri="{FF2B5EF4-FFF2-40B4-BE49-F238E27FC236}">
                  <a16:creationId xmlns:a16="http://schemas.microsoft.com/office/drawing/2014/main" id="{7D0DF9A3-4628-42F6-B0A4-44D97617E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52" name="Rectangle 51">
            <a:extLst>
              <a:ext uri="{FF2B5EF4-FFF2-40B4-BE49-F238E27FC236}">
                <a16:creationId xmlns:a16="http://schemas.microsoft.com/office/drawing/2014/main" id="{7459C506-5F4B-4B75-9218-C7C3F87FA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BC659EEB-C3AE-4544-8263-417009DCDF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55" name="Straight Connector 54">
              <a:extLst>
                <a:ext uri="{FF2B5EF4-FFF2-40B4-BE49-F238E27FC236}">
                  <a16:creationId xmlns:a16="http://schemas.microsoft.com/office/drawing/2014/main" id="{D99DB6C6-36F9-4576-A558-95153EADBE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6" name="Rectangle 23">
              <a:extLst>
                <a:ext uri="{FF2B5EF4-FFF2-40B4-BE49-F238E27FC236}">
                  <a16:creationId xmlns:a16="http://schemas.microsoft.com/office/drawing/2014/main" id="{694E7916-EDE4-4B50-A4A1-6B28FDD4D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7" name="Rectangle 25">
              <a:extLst>
                <a:ext uri="{FF2B5EF4-FFF2-40B4-BE49-F238E27FC236}">
                  <a16:creationId xmlns:a16="http://schemas.microsoft.com/office/drawing/2014/main" id="{6F6CB7BB-4370-4173-97F8-F636C0F14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8" name="Isosceles Triangle 57">
              <a:extLst>
                <a:ext uri="{FF2B5EF4-FFF2-40B4-BE49-F238E27FC236}">
                  <a16:creationId xmlns:a16="http://schemas.microsoft.com/office/drawing/2014/main" id="{B0F590BB-1F51-4138-A2D4-2E483C84FB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9" name="Rectangle 27">
              <a:extLst>
                <a:ext uri="{FF2B5EF4-FFF2-40B4-BE49-F238E27FC236}">
                  <a16:creationId xmlns:a16="http://schemas.microsoft.com/office/drawing/2014/main" id="{4A492863-9797-45A2-BAB3-514F10C5F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0" name="Rectangle 28">
              <a:extLst>
                <a:ext uri="{FF2B5EF4-FFF2-40B4-BE49-F238E27FC236}">
                  <a16:creationId xmlns:a16="http://schemas.microsoft.com/office/drawing/2014/main" id="{7C1E33F6-6D0F-4ECF-92F4-6F71D8BAF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1" name="Rectangle 29">
              <a:extLst>
                <a:ext uri="{FF2B5EF4-FFF2-40B4-BE49-F238E27FC236}">
                  <a16:creationId xmlns:a16="http://schemas.microsoft.com/office/drawing/2014/main" id="{73EEEA64-7411-474B-BD0E-60C24B3F4E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2" name="Isosceles Triangle 61">
              <a:extLst>
                <a:ext uri="{FF2B5EF4-FFF2-40B4-BE49-F238E27FC236}">
                  <a16:creationId xmlns:a16="http://schemas.microsoft.com/office/drawing/2014/main" id="{4F82A6DD-92BB-4443-B5A5-05240DD55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3" name="Isosceles Triangle 62">
              <a:extLst>
                <a:ext uri="{FF2B5EF4-FFF2-40B4-BE49-F238E27FC236}">
                  <a16:creationId xmlns:a16="http://schemas.microsoft.com/office/drawing/2014/main" id="{79832BCB-1DCF-46AC-9FFA-170791668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useBgFill="1">
        <p:nvSpPr>
          <p:cNvPr id="65" name="Rectangle 64">
            <a:extLst>
              <a:ext uri="{FF2B5EF4-FFF2-40B4-BE49-F238E27FC236}">
                <a16:creationId xmlns:a16="http://schemas.microsoft.com/office/drawing/2014/main" id="{4E74DA95-CD7A-4D5E-9D27-67A759CE7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ie chart with numbers and text&#10;&#10;Description automatically generated">
            <a:extLst>
              <a:ext uri="{FF2B5EF4-FFF2-40B4-BE49-F238E27FC236}">
                <a16:creationId xmlns:a16="http://schemas.microsoft.com/office/drawing/2014/main" id="{9B5DD854-CEDA-A33C-20D1-6C94F7C274D9}"/>
              </a:ext>
            </a:extLst>
          </p:cNvPr>
          <p:cNvPicPr>
            <a:picLocks noGrp="1" noChangeAspect="1"/>
          </p:cNvPicPr>
          <p:nvPr>
            <p:ph idx="1"/>
          </p:nvPr>
        </p:nvPicPr>
        <p:blipFill>
          <a:blip r:embed="rId2"/>
          <a:stretch>
            <a:fillRect/>
          </a:stretch>
        </p:blipFill>
        <p:spPr>
          <a:xfrm>
            <a:off x="1124262" y="1858045"/>
            <a:ext cx="4650004" cy="3150377"/>
          </a:xfrm>
          <a:prstGeom prst="rect">
            <a:avLst/>
          </a:prstGeom>
        </p:spPr>
      </p:pic>
      <p:cxnSp>
        <p:nvCxnSpPr>
          <p:cNvPr id="67" name="Straight Connector 66">
            <a:extLst>
              <a:ext uri="{FF2B5EF4-FFF2-40B4-BE49-F238E27FC236}">
                <a16:creationId xmlns:a16="http://schemas.microsoft.com/office/drawing/2014/main" id="{14AA3B5C-0C55-4FFF-9C45-8F9F7C074A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1305" y="1650669"/>
            <a:ext cx="0" cy="3431969"/>
          </a:xfrm>
          <a:prstGeom prst="line">
            <a:avLst/>
          </a:prstGeom>
        </p:spPr>
        <p:style>
          <a:lnRef idx="1">
            <a:schemeClr val="accent1"/>
          </a:lnRef>
          <a:fillRef idx="0">
            <a:schemeClr val="accent1"/>
          </a:fillRef>
          <a:effectRef idx="0">
            <a:schemeClr val="accent1"/>
          </a:effectRef>
          <a:fontRef idx="minor">
            <a:schemeClr val="tx1"/>
          </a:fontRef>
        </p:style>
      </p:cxnSp>
      <p:pic>
        <p:nvPicPr>
          <p:cNvPr id="6" name="Content Placeholder 6" descr="A pie chart with numbers and a red circle&#10;&#10;Description automatically generated">
            <a:extLst>
              <a:ext uri="{FF2B5EF4-FFF2-40B4-BE49-F238E27FC236}">
                <a16:creationId xmlns:a16="http://schemas.microsoft.com/office/drawing/2014/main" id="{5EA80678-B85E-4D34-AF3B-577CFFF4A523}"/>
              </a:ext>
            </a:extLst>
          </p:cNvPr>
          <p:cNvPicPr>
            <a:picLocks noChangeAspect="1"/>
          </p:cNvPicPr>
          <p:nvPr/>
        </p:nvPicPr>
        <p:blipFill>
          <a:blip r:embed="rId3"/>
          <a:stretch>
            <a:fillRect/>
          </a:stretch>
        </p:blipFill>
        <p:spPr>
          <a:xfrm>
            <a:off x="6414367" y="1933606"/>
            <a:ext cx="4650004" cy="2999252"/>
          </a:xfrm>
          <a:prstGeom prst="rect">
            <a:avLst/>
          </a:prstGeom>
        </p:spPr>
      </p:pic>
      <p:sp>
        <p:nvSpPr>
          <p:cNvPr id="7" name="TextBox 6">
            <a:extLst>
              <a:ext uri="{FF2B5EF4-FFF2-40B4-BE49-F238E27FC236}">
                <a16:creationId xmlns:a16="http://schemas.microsoft.com/office/drawing/2014/main" id="{5BE8A882-582B-3002-C4E0-7952A6F84C08}"/>
              </a:ext>
            </a:extLst>
          </p:cNvPr>
          <p:cNvSpPr txBox="1"/>
          <p:nvPr/>
        </p:nvSpPr>
        <p:spPr>
          <a:xfrm>
            <a:off x="1062995" y="971684"/>
            <a:ext cx="5082574" cy="646331"/>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Percentage of Main span Design types of the bridges</a:t>
            </a:r>
          </a:p>
        </p:txBody>
      </p:sp>
      <p:sp>
        <p:nvSpPr>
          <p:cNvPr id="9" name="TextBox 8">
            <a:extLst>
              <a:ext uri="{FF2B5EF4-FFF2-40B4-BE49-F238E27FC236}">
                <a16:creationId xmlns:a16="http://schemas.microsoft.com/office/drawing/2014/main" id="{2A3E5FBF-1ADF-484D-A61B-706678C4FFA4}"/>
              </a:ext>
            </a:extLst>
          </p:cNvPr>
          <p:cNvSpPr txBox="1"/>
          <p:nvPr/>
        </p:nvSpPr>
        <p:spPr>
          <a:xfrm>
            <a:off x="7056582" y="971684"/>
            <a:ext cx="3408581"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Bridge Condition Distribution</a:t>
            </a:r>
          </a:p>
        </p:txBody>
      </p:sp>
    </p:spTree>
    <p:extLst>
      <p:ext uri="{BB962C8B-B14F-4D97-AF65-F5344CB8AC3E}">
        <p14:creationId xmlns:p14="http://schemas.microsoft.com/office/powerpoint/2010/main" val="1672685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bridge condition distribution&#10;&#10;Description automatically generated">
            <a:extLst>
              <a:ext uri="{FF2B5EF4-FFF2-40B4-BE49-F238E27FC236}">
                <a16:creationId xmlns:a16="http://schemas.microsoft.com/office/drawing/2014/main" id="{491601C3-F57E-7487-E1BB-0943D324F736}"/>
              </a:ext>
            </a:extLst>
          </p:cNvPr>
          <p:cNvPicPr>
            <a:picLocks noGrp="1" noChangeAspect="1"/>
          </p:cNvPicPr>
          <p:nvPr>
            <p:ph idx="1"/>
          </p:nvPr>
        </p:nvPicPr>
        <p:blipFill>
          <a:blip r:embed="rId2"/>
          <a:stretch>
            <a:fillRect/>
          </a:stretch>
        </p:blipFill>
        <p:spPr>
          <a:xfrm>
            <a:off x="1253195" y="1718007"/>
            <a:ext cx="7780314" cy="4590386"/>
          </a:xfrm>
          <a:prstGeom prst="rect">
            <a:avLst/>
          </a:prstGeom>
        </p:spPr>
      </p:pic>
      <p:sp>
        <p:nvSpPr>
          <p:cNvPr id="6" name="TextBox 5">
            <a:extLst>
              <a:ext uri="{FF2B5EF4-FFF2-40B4-BE49-F238E27FC236}">
                <a16:creationId xmlns:a16="http://schemas.microsoft.com/office/drawing/2014/main" id="{77055976-2905-477F-0BCA-A416CABA5013}"/>
              </a:ext>
            </a:extLst>
          </p:cNvPr>
          <p:cNvSpPr txBox="1"/>
          <p:nvPr/>
        </p:nvSpPr>
        <p:spPr>
          <a:xfrm>
            <a:off x="1726961" y="1181376"/>
            <a:ext cx="6520873" cy="369332"/>
          </a:xfrm>
          <a:prstGeom prst="rect">
            <a:avLst/>
          </a:prstGeom>
          <a:noFill/>
        </p:spPr>
        <p:txBody>
          <a:bodyPr wrap="square" rtlCol="0">
            <a:spAutoFit/>
          </a:bodyPr>
          <a:lstStyle/>
          <a:p>
            <a:r>
              <a:rPr lang="en-IN" dirty="0"/>
              <a:t>Bridge Condition Distribution by State</a:t>
            </a:r>
          </a:p>
        </p:txBody>
      </p:sp>
      <p:sp>
        <p:nvSpPr>
          <p:cNvPr id="7" name="TextBox 6">
            <a:extLst>
              <a:ext uri="{FF2B5EF4-FFF2-40B4-BE49-F238E27FC236}">
                <a16:creationId xmlns:a16="http://schemas.microsoft.com/office/drawing/2014/main" id="{92F272F4-3894-EA57-6F10-D28ADA2A7CC8}"/>
              </a:ext>
            </a:extLst>
          </p:cNvPr>
          <p:cNvSpPr txBox="1"/>
          <p:nvPr/>
        </p:nvSpPr>
        <p:spPr>
          <a:xfrm>
            <a:off x="8793018" y="1838036"/>
            <a:ext cx="2632364" cy="2308324"/>
          </a:xfrm>
          <a:prstGeom prst="rect">
            <a:avLst/>
          </a:prstGeom>
          <a:noFill/>
        </p:spPr>
        <p:txBody>
          <a:bodyPr wrap="square" rtlCol="0">
            <a:spAutoFit/>
          </a:bodyPr>
          <a:lstStyle/>
          <a:p>
            <a:r>
              <a:rPr lang="en-IN" dirty="0"/>
              <a:t>7 Different States</a:t>
            </a:r>
          </a:p>
          <a:p>
            <a:r>
              <a:rPr lang="en-IN" dirty="0"/>
              <a:t>0-alabama</a:t>
            </a:r>
          </a:p>
          <a:p>
            <a:r>
              <a:rPr lang="en-IN" dirty="0"/>
              <a:t>1-Illinois </a:t>
            </a:r>
          </a:p>
          <a:p>
            <a:r>
              <a:rPr lang="en-IN" dirty="0"/>
              <a:t>2-Idaho</a:t>
            </a:r>
          </a:p>
          <a:p>
            <a:r>
              <a:rPr lang="en-IN" dirty="0"/>
              <a:t>3-Connecticut</a:t>
            </a:r>
          </a:p>
          <a:p>
            <a:r>
              <a:rPr lang="en-IN" dirty="0"/>
              <a:t>4-Texas</a:t>
            </a:r>
          </a:p>
          <a:p>
            <a:r>
              <a:rPr lang="en-IN" dirty="0"/>
              <a:t>5-California</a:t>
            </a:r>
          </a:p>
          <a:p>
            <a:r>
              <a:rPr lang="en-IN" dirty="0"/>
              <a:t>6-Pennsylvania</a:t>
            </a:r>
          </a:p>
        </p:txBody>
      </p:sp>
    </p:spTree>
    <p:extLst>
      <p:ext uri="{BB962C8B-B14F-4D97-AF65-F5344CB8AC3E}">
        <p14:creationId xmlns:p14="http://schemas.microsoft.com/office/powerpoint/2010/main" val="62017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2A750997-BD2C-4047-2703-D48C61BD661B}"/>
              </a:ext>
            </a:extLst>
          </p:cNvPr>
          <p:cNvPicPr>
            <a:picLocks noGrp="1" noChangeAspect="1"/>
          </p:cNvPicPr>
          <p:nvPr>
            <p:ph idx="1"/>
          </p:nvPr>
        </p:nvPicPr>
        <p:blipFill>
          <a:blip r:embed="rId2"/>
          <a:stretch>
            <a:fillRect/>
          </a:stretch>
        </p:blipFill>
        <p:spPr>
          <a:xfrm>
            <a:off x="987760" y="1547631"/>
            <a:ext cx="7433825" cy="4590386"/>
          </a:xfrm>
          <a:prstGeom prst="rect">
            <a:avLst/>
          </a:prstGeom>
        </p:spPr>
      </p:pic>
      <p:sp>
        <p:nvSpPr>
          <p:cNvPr id="6" name="TextBox 5">
            <a:extLst>
              <a:ext uri="{FF2B5EF4-FFF2-40B4-BE49-F238E27FC236}">
                <a16:creationId xmlns:a16="http://schemas.microsoft.com/office/drawing/2014/main" id="{1D968212-38BB-A029-1705-1530CCDD1C82}"/>
              </a:ext>
            </a:extLst>
          </p:cNvPr>
          <p:cNvSpPr txBox="1"/>
          <p:nvPr/>
        </p:nvSpPr>
        <p:spPr>
          <a:xfrm>
            <a:off x="1601788" y="923636"/>
            <a:ext cx="4743594" cy="369332"/>
          </a:xfrm>
          <a:prstGeom prst="rect">
            <a:avLst/>
          </a:prstGeom>
          <a:noFill/>
        </p:spPr>
        <p:txBody>
          <a:bodyPr wrap="square" rtlCol="0">
            <a:spAutoFit/>
          </a:bodyPr>
          <a:lstStyle/>
          <a:p>
            <a:r>
              <a:rPr lang="en-IN" dirty="0"/>
              <a:t>Average Bridge Condition by State</a:t>
            </a:r>
          </a:p>
        </p:txBody>
      </p:sp>
      <p:sp>
        <p:nvSpPr>
          <p:cNvPr id="7" name="TextBox 6">
            <a:extLst>
              <a:ext uri="{FF2B5EF4-FFF2-40B4-BE49-F238E27FC236}">
                <a16:creationId xmlns:a16="http://schemas.microsoft.com/office/drawing/2014/main" id="{EBE1D199-D75E-0831-2731-DA0356E4DCF9}"/>
              </a:ext>
            </a:extLst>
          </p:cNvPr>
          <p:cNvSpPr txBox="1"/>
          <p:nvPr/>
        </p:nvSpPr>
        <p:spPr>
          <a:xfrm>
            <a:off x="8677588" y="1755338"/>
            <a:ext cx="2059709" cy="2585323"/>
          </a:xfrm>
          <a:prstGeom prst="rect">
            <a:avLst/>
          </a:prstGeom>
          <a:noFill/>
        </p:spPr>
        <p:txBody>
          <a:bodyPr wrap="square" rtlCol="0">
            <a:spAutoFit/>
          </a:bodyPr>
          <a:lstStyle/>
          <a:p>
            <a:r>
              <a:rPr lang="en-IN" dirty="0"/>
              <a:t>7 Different States</a:t>
            </a:r>
          </a:p>
          <a:p>
            <a:r>
              <a:rPr lang="en-IN" dirty="0"/>
              <a:t>0-alabama</a:t>
            </a:r>
          </a:p>
          <a:p>
            <a:r>
              <a:rPr lang="en-IN" dirty="0"/>
              <a:t>1-Illinois </a:t>
            </a:r>
          </a:p>
          <a:p>
            <a:r>
              <a:rPr lang="en-IN" dirty="0"/>
              <a:t>2-Idaho</a:t>
            </a:r>
          </a:p>
          <a:p>
            <a:r>
              <a:rPr lang="en-IN" dirty="0"/>
              <a:t>3-Connecticut</a:t>
            </a:r>
          </a:p>
          <a:p>
            <a:r>
              <a:rPr lang="en-IN" dirty="0"/>
              <a:t>4-Texas</a:t>
            </a:r>
          </a:p>
          <a:p>
            <a:r>
              <a:rPr lang="en-IN" dirty="0"/>
              <a:t>5-California</a:t>
            </a:r>
          </a:p>
          <a:p>
            <a:r>
              <a:rPr lang="en-IN" dirty="0"/>
              <a:t>6-Pennsylvania</a:t>
            </a:r>
          </a:p>
          <a:p>
            <a:endParaRPr lang="en-IN" dirty="0"/>
          </a:p>
        </p:txBody>
      </p:sp>
    </p:spTree>
    <p:extLst>
      <p:ext uri="{BB962C8B-B14F-4D97-AF65-F5344CB8AC3E}">
        <p14:creationId xmlns:p14="http://schemas.microsoft.com/office/powerpoint/2010/main" val="3471521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D3D2D-B5BE-D436-D29D-41DB01A9782A}"/>
              </a:ext>
            </a:extLst>
          </p:cNvPr>
          <p:cNvSpPr>
            <a:spLocks noGrp="1"/>
          </p:cNvSpPr>
          <p:nvPr>
            <p:ph type="title"/>
          </p:nvPr>
        </p:nvSpPr>
        <p:spPr/>
        <p:txBody>
          <a:bodyPr/>
          <a:lstStyle/>
          <a:p>
            <a:r>
              <a:rPr lang="en-IN" b="1">
                <a:solidFill>
                  <a:schemeClr val="tx1"/>
                </a:solidFill>
                <a:latin typeface="Times New Roman" panose="02020603050405020304" pitchFamily="18" charset="0"/>
                <a:cs typeface="Times New Roman" panose="02020603050405020304" pitchFamily="18" charset="0"/>
              </a:rPr>
              <a:t>Random Forest Regression Model</a:t>
            </a:r>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5810C50-3350-848E-A713-645CD99C7CD1}"/>
              </a:ext>
            </a:extLst>
          </p:cNvPr>
          <p:cNvPicPr>
            <a:picLocks noGrp="1" noChangeAspect="1"/>
          </p:cNvPicPr>
          <p:nvPr>
            <p:ph idx="1"/>
          </p:nvPr>
        </p:nvPicPr>
        <p:blipFill>
          <a:blip r:embed="rId2"/>
          <a:stretch>
            <a:fillRect/>
          </a:stretch>
        </p:blipFill>
        <p:spPr>
          <a:xfrm>
            <a:off x="1163782" y="1690255"/>
            <a:ext cx="6349678" cy="4442689"/>
          </a:xfrm>
        </p:spPr>
      </p:pic>
    </p:spTree>
    <p:extLst>
      <p:ext uri="{BB962C8B-B14F-4D97-AF65-F5344CB8AC3E}">
        <p14:creationId xmlns:p14="http://schemas.microsoft.com/office/powerpoint/2010/main" val="1597456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E8DE2B-61C1-46D5-BEB8-521321C182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E012C92A-B902-4B69-BDCF-CCA3021FCB4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2BDBC14-42A0-4182-BFBA-0751F6350C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902DC474-5BCC-4188-ACDC-AD63E6B18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25">
              <a:extLst>
                <a:ext uri="{FF2B5EF4-FFF2-40B4-BE49-F238E27FC236}">
                  <a16:creationId xmlns:a16="http://schemas.microsoft.com/office/drawing/2014/main" id="{7B427019-8592-4032-931B-4F27104C9D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Isosceles Triangle 14">
              <a:extLst>
                <a:ext uri="{FF2B5EF4-FFF2-40B4-BE49-F238E27FC236}">
                  <a16:creationId xmlns:a16="http://schemas.microsoft.com/office/drawing/2014/main" id="{1D6E2CEA-A5BB-4CF7-B907-AE4DBF6748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7">
              <a:extLst>
                <a:ext uri="{FF2B5EF4-FFF2-40B4-BE49-F238E27FC236}">
                  <a16:creationId xmlns:a16="http://schemas.microsoft.com/office/drawing/2014/main" id="{78D09D5A-29CC-4B32-9CE1-72E607558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8">
              <a:extLst>
                <a:ext uri="{FF2B5EF4-FFF2-40B4-BE49-F238E27FC236}">
                  <a16:creationId xmlns:a16="http://schemas.microsoft.com/office/drawing/2014/main" id="{6DF3A3FC-950B-40B0-923D-0F0BC1A54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9">
              <a:extLst>
                <a:ext uri="{FF2B5EF4-FFF2-40B4-BE49-F238E27FC236}">
                  <a16:creationId xmlns:a16="http://schemas.microsoft.com/office/drawing/2014/main" id="{BCA0F2E1-CD3D-4521-9CCB-41A5CC6C5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a:extLst>
                <a:ext uri="{FF2B5EF4-FFF2-40B4-BE49-F238E27FC236}">
                  <a16:creationId xmlns:a16="http://schemas.microsoft.com/office/drawing/2014/main" id="{9BA4F16A-21DC-462A-AD37-0A93C8B79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FB75EBDD-038D-4572-A372-114938295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2" name="Rectangle 21">
            <a:extLst>
              <a:ext uri="{FF2B5EF4-FFF2-40B4-BE49-F238E27FC236}">
                <a16:creationId xmlns:a16="http://schemas.microsoft.com/office/drawing/2014/main" id="{21029ED5-F105-4DD2-99C8-1E4422817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D621E68-BF28-4A1C-B1A2-4E55E139E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BE8BBE4D-F0DF-49B9-B75A-99DAC53ACA7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E0F07DDC-34A6-46A1-9DE9-2BBE2931A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5">
              <a:extLst>
                <a:ext uri="{FF2B5EF4-FFF2-40B4-BE49-F238E27FC236}">
                  <a16:creationId xmlns:a16="http://schemas.microsoft.com/office/drawing/2014/main" id="{2CEB2BF9-B8DB-45B9-86EA-D197B5B1A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a:extLst>
                <a:ext uri="{FF2B5EF4-FFF2-40B4-BE49-F238E27FC236}">
                  <a16:creationId xmlns:a16="http://schemas.microsoft.com/office/drawing/2014/main" id="{08B5BB34-3801-4E70-A981-FE007635E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7">
              <a:extLst>
                <a:ext uri="{FF2B5EF4-FFF2-40B4-BE49-F238E27FC236}">
                  <a16:creationId xmlns:a16="http://schemas.microsoft.com/office/drawing/2014/main" id="{38432A75-2CEB-463C-A8F2-ABB50A79F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8">
              <a:extLst>
                <a:ext uri="{FF2B5EF4-FFF2-40B4-BE49-F238E27FC236}">
                  <a16:creationId xmlns:a16="http://schemas.microsoft.com/office/drawing/2014/main" id="{E7E850B8-C050-4597-8BEB-113FEC9A27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Rectangle 29">
              <a:extLst>
                <a:ext uri="{FF2B5EF4-FFF2-40B4-BE49-F238E27FC236}">
                  <a16:creationId xmlns:a16="http://schemas.microsoft.com/office/drawing/2014/main" id="{24ACC798-9CEC-4B6F-A8DD-F8E6FCCCF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Isosceles Triangle 31">
              <a:extLst>
                <a:ext uri="{FF2B5EF4-FFF2-40B4-BE49-F238E27FC236}">
                  <a16:creationId xmlns:a16="http://schemas.microsoft.com/office/drawing/2014/main" id="{1D58A8C6-1294-4CD9-89BC-F1E981A5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3" name="Isosceles Triangle 32">
              <a:extLst>
                <a:ext uri="{FF2B5EF4-FFF2-40B4-BE49-F238E27FC236}">
                  <a16:creationId xmlns:a16="http://schemas.microsoft.com/office/drawing/2014/main" id="{F32F2ED6-6143-46C4-A641-72D42732B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35" name="Rectangle 34">
            <a:extLst>
              <a:ext uri="{FF2B5EF4-FFF2-40B4-BE49-F238E27FC236}">
                <a16:creationId xmlns:a16="http://schemas.microsoft.com/office/drawing/2014/main" id="{5C9652B3-A450-4ED6-8FBF-F536BA60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Description automatically generated">
            <a:extLst>
              <a:ext uri="{FF2B5EF4-FFF2-40B4-BE49-F238E27FC236}">
                <a16:creationId xmlns:a16="http://schemas.microsoft.com/office/drawing/2014/main" id="{25E321FE-8FAF-CF17-C124-F30F501DFD5C}"/>
              </a:ext>
            </a:extLst>
          </p:cNvPr>
          <p:cNvPicPr>
            <a:picLocks noGrp="1" noChangeAspect="1"/>
          </p:cNvPicPr>
          <p:nvPr>
            <p:ph idx="1"/>
          </p:nvPr>
        </p:nvPicPr>
        <p:blipFill>
          <a:blip r:embed="rId2"/>
          <a:srcRect t="7272" r="1" b="1"/>
          <a:stretch/>
        </p:blipFill>
        <p:spPr>
          <a:xfrm>
            <a:off x="1010660" y="1200728"/>
            <a:ext cx="8206093" cy="4782556"/>
          </a:xfrm>
          <a:prstGeom prst="rect">
            <a:avLst/>
          </a:prstGeom>
        </p:spPr>
      </p:pic>
    </p:spTree>
    <p:extLst>
      <p:ext uri="{BB962C8B-B14F-4D97-AF65-F5344CB8AC3E}">
        <p14:creationId xmlns:p14="http://schemas.microsoft.com/office/powerpoint/2010/main" val="997954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10E6B-8BB5-782C-3C03-F588FE54F2D8}"/>
              </a:ext>
            </a:extLst>
          </p:cNvPr>
          <p:cNvSpPr>
            <a:spLocks noGrp="1"/>
          </p:cNvSpPr>
          <p:nvPr>
            <p:ph type="title"/>
          </p:nvPr>
        </p:nvSpPr>
        <p:spPr>
          <a:xfrm>
            <a:off x="464898" y="461819"/>
            <a:ext cx="8596668" cy="1320800"/>
          </a:xfrm>
        </p:spPr>
        <p:txBody>
          <a:bodyPr>
            <a:normAutofit/>
          </a:bodyPr>
          <a:lstStyle/>
          <a:p>
            <a:r>
              <a:rPr lang="en-IN" sz="3200" b="1" dirty="0">
                <a:solidFill>
                  <a:schemeClr val="tx1"/>
                </a:solidFill>
                <a:latin typeface="Times New Roman" panose="02020603050405020304" pitchFamily="18" charset="0"/>
                <a:cs typeface="Times New Roman" panose="02020603050405020304" pitchFamily="18" charset="0"/>
              </a:rPr>
              <a:t>Evaluation Metrics:</a:t>
            </a:r>
          </a:p>
        </p:txBody>
      </p:sp>
      <p:pic>
        <p:nvPicPr>
          <p:cNvPr id="5" name="Content Placeholder 4">
            <a:extLst>
              <a:ext uri="{FF2B5EF4-FFF2-40B4-BE49-F238E27FC236}">
                <a16:creationId xmlns:a16="http://schemas.microsoft.com/office/drawing/2014/main" id="{FF600B56-4E5E-3496-0BBD-709758EE5E59}"/>
              </a:ext>
            </a:extLst>
          </p:cNvPr>
          <p:cNvPicPr>
            <a:picLocks noGrp="1" noChangeAspect="1"/>
          </p:cNvPicPr>
          <p:nvPr>
            <p:ph idx="1"/>
          </p:nvPr>
        </p:nvPicPr>
        <p:blipFill>
          <a:blip r:embed="rId2"/>
          <a:stretch>
            <a:fillRect/>
          </a:stretch>
        </p:blipFill>
        <p:spPr>
          <a:xfrm>
            <a:off x="391535" y="1554670"/>
            <a:ext cx="8596312" cy="3416152"/>
          </a:xfrm>
        </p:spPr>
      </p:pic>
    </p:spTree>
    <p:extLst>
      <p:ext uri="{BB962C8B-B14F-4D97-AF65-F5344CB8AC3E}">
        <p14:creationId xmlns:p14="http://schemas.microsoft.com/office/powerpoint/2010/main" val="1996777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8"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9"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0" name="Isosceles Triangle 39">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1"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2"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3"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4" name="Isosceles Triangle 43">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5" name="Isosceles Triangle 44">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46" name="Rectangle 45">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8"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9"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0" name="Isosceles Triangle 49">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1"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2"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3"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4" name="Isosceles Triangle 53">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5" name="Isosceles Triangle 54">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56" name="Rectangle 55">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9667BF52-FD3A-1769-3305-4053B0E5FEBD}"/>
              </a:ext>
            </a:extLst>
          </p:cNvPr>
          <p:cNvPicPr>
            <a:picLocks noGrp="1" noChangeAspect="1"/>
          </p:cNvPicPr>
          <p:nvPr>
            <p:ph idx="1"/>
          </p:nvPr>
        </p:nvPicPr>
        <p:blipFill>
          <a:blip r:embed="rId2"/>
          <a:stretch>
            <a:fillRect/>
          </a:stretch>
        </p:blipFill>
        <p:spPr>
          <a:xfrm>
            <a:off x="1003056" y="1444752"/>
            <a:ext cx="7775018" cy="4514632"/>
          </a:xfrm>
          <a:prstGeom prst="rect">
            <a:avLst/>
          </a:prstGeom>
        </p:spPr>
      </p:pic>
      <p:sp>
        <p:nvSpPr>
          <p:cNvPr id="6" name="TextBox 5">
            <a:extLst>
              <a:ext uri="{FF2B5EF4-FFF2-40B4-BE49-F238E27FC236}">
                <a16:creationId xmlns:a16="http://schemas.microsoft.com/office/drawing/2014/main" id="{A9312F71-B0AA-E00B-B6BB-1575BB51F221}"/>
              </a:ext>
            </a:extLst>
          </p:cNvPr>
          <p:cNvSpPr txBox="1"/>
          <p:nvPr/>
        </p:nvSpPr>
        <p:spPr>
          <a:xfrm>
            <a:off x="1001260" y="798421"/>
            <a:ext cx="5148072" cy="861774"/>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Cross Validation</a:t>
            </a:r>
          </a:p>
          <a:p>
            <a:endParaRPr lang="en-IN" dirty="0"/>
          </a:p>
        </p:txBody>
      </p:sp>
    </p:spTree>
    <p:extLst>
      <p:ext uri="{BB962C8B-B14F-4D97-AF65-F5344CB8AC3E}">
        <p14:creationId xmlns:p14="http://schemas.microsoft.com/office/powerpoint/2010/main" val="2049775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73" name="Straight Connector 72">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5"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6"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7" name="Isosceles Triangle 76">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8"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9"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0"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1" name="Isosceles Triangle 80">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2" name="Isosceles Triangle 81">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84" name="Rectangle 83">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6" name="Group 85">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7" name="Straight Connector 86">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8"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9"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0" name="Isosceles Triangle 89">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1"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2"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3"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4" name="Isosceles Triangle 93">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5" name="Isosceles Triangle 94">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97" name="Rectangle 96">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Content Placeholder 39" descr="A screenshot of a computer&#10;&#10;Description automatically generated">
            <a:extLst>
              <a:ext uri="{FF2B5EF4-FFF2-40B4-BE49-F238E27FC236}">
                <a16:creationId xmlns:a16="http://schemas.microsoft.com/office/drawing/2014/main" id="{64F8F198-3B68-7D70-4E49-DF9087DE34AB}"/>
              </a:ext>
            </a:extLst>
          </p:cNvPr>
          <p:cNvPicPr>
            <a:picLocks noGrp="1" noChangeAspect="1"/>
          </p:cNvPicPr>
          <p:nvPr>
            <p:ph idx="1"/>
          </p:nvPr>
        </p:nvPicPr>
        <p:blipFill>
          <a:blip r:embed="rId2"/>
          <a:stretch>
            <a:fillRect/>
          </a:stretch>
        </p:blipFill>
        <p:spPr>
          <a:xfrm>
            <a:off x="757251" y="833915"/>
            <a:ext cx="10432498" cy="5190169"/>
          </a:xfrm>
          <a:prstGeom prst="rect">
            <a:avLst/>
          </a:prstGeom>
        </p:spPr>
      </p:pic>
    </p:spTree>
    <p:extLst>
      <p:ext uri="{BB962C8B-B14F-4D97-AF65-F5344CB8AC3E}">
        <p14:creationId xmlns:p14="http://schemas.microsoft.com/office/powerpoint/2010/main" val="1490532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4AB57-1116-8B6B-74EC-CC278469E87B}"/>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4950BDE-F7F9-02D2-3774-FA1C4EA75022}"/>
              </a:ext>
            </a:extLst>
          </p:cNvPr>
          <p:cNvSpPr>
            <a:spLocks noGrp="1"/>
          </p:cNvSpPr>
          <p:nvPr>
            <p:ph idx="1"/>
          </p:nvPr>
        </p:nvSpPr>
        <p:spPr>
          <a:xfrm>
            <a:off x="483370" y="1680298"/>
            <a:ext cx="8596668" cy="3880773"/>
          </a:xfrm>
        </p:spPr>
        <p:txBody>
          <a:bodyPr>
            <a:normAutofit/>
          </a:bodyPr>
          <a:lstStyle/>
          <a:p>
            <a:r>
              <a:rPr lang="en-US" sz="2000" dirty="0">
                <a:latin typeface="Times New Roman" panose="02020603050405020304" pitchFamily="18" charset="0"/>
                <a:cs typeface="Times New Roman" panose="02020603050405020304" pitchFamily="18" charset="0"/>
              </a:rPr>
              <a:t>The Random Forest Regression model was trained to predict the Bridge Condition based on a set of features. </a:t>
            </a:r>
          </a:p>
          <a:p>
            <a:r>
              <a:rPr lang="en-US" sz="2000" dirty="0">
                <a:latin typeface="Times New Roman" panose="02020603050405020304" pitchFamily="18" charset="0"/>
                <a:cs typeface="Times New Roman" panose="02020603050405020304" pitchFamily="18" charset="0"/>
              </a:rPr>
              <a:t>First the model achieved a Mean Absolute Error (MAE) of 0.38845112742692495 and a Mean Squared Error (MSE) of 0.23658667492379346. </a:t>
            </a:r>
          </a:p>
          <a:p>
            <a:r>
              <a:rPr lang="en-US" sz="2000" dirty="0">
                <a:latin typeface="Times New Roman" panose="02020603050405020304" pitchFamily="18" charset="0"/>
                <a:cs typeface="Times New Roman" panose="02020603050405020304" pitchFamily="18" charset="0"/>
              </a:rPr>
              <a:t>The model after doing the Cross Validation Mean Squared Error (MSE) is reduced to 0.2354 and Mean Absolute Error(MAE) reduced to 0.387</a:t>
            </a:r>
          </a:p>
          <a:p>
            <a:r>
              <a:rPr lang="en-US" sz="2000" dirty="0">
                <a:latin typeface="Times New Roman" panose="02020603050405020304" pitchFamily="18" charset="0"/>
                <a:cs typeface="Times New Roman" panose="02020603050405020304" pitchFamily="18" charset="0"/>
              </a:rPr>
              <a:t>These results indicates that the model is capable of making reasonably accurate predictions for the Bridge Condition.</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2285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8D0CB-A5D6-F790-8E08-66AC1AE7EE98}"/>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4E0F63D8-29F6-0A8F-C411-B98F58B9A12B}"/>
              </a:ext>
            </a:extLst>
          </p:cNvPr>
          <p:cNvSpPr>
            <a:spLocks noGrp="1"/>
          </p:cNvSpPr>
          <p:nvPr>
            <p:ph idx="1"/>
          </p:nvPr>
        </p:nvSpPr>
        <p:spPr>
          <a:xfrm>
            <a:off x="427953" y="1809608"/>
            <a:ext cx="8596668" cy="3880773"/>
          </a:xfrm>
        </p:spPr>
        <p:txBody>
          <a:bodyPr>
            <a:normAutofit/>
          </a:bodyPr>
          <a:lstStyle/>
          <a:p>
            <a:r>
              <a:rPr lang="en-US" sz="2000" dirty="0">
                <a:latin typeface="Times New Roman" panose="02020603050405020304" pitchFamily="18" charset="0"/>
                <a:cs typeface="Times New Roman" panose="02020603050405020304" pitchFamily="18" charset="0"/>
              </a:rPr>
              <a:t>To further improve the model's effectiveness, future work will involve gathering more data to enhance its accuracy.</a:t>
            </a:r>
          </a:p>
          <a:p>
            <a:r>
              <a:rPr lang="en-US" sz="2000" dirty="0">
                <a:latin typeface="Times New Roman" panose="02020603050405020304" pitchFamily="18" charset="0"/>
                <a:cs typeface="Times New Roman" panose="02020603050405020304" pitchFamily="18" charset="0"/>
              </a:rPr>
              <a:t> Exploring advanced techniques like deep learning, integrating real-time sensor data for more up-to-date information.</a:t>
            </a:r>
          </a:p>
          <a:p>
            <a:r>
              <a:rPr lang="en-US" sz="2000" dirty="0">
                <a:latin typeface="Times New Roman" panose="02020603050405020304" pitchFamily="18" charset="0"/>
                <a:cs typeface="Times New Roman" panose="02020603050405020304" pitchFamily="18" charset="0"/>
              </a:rPr>
              <a:t> Developing a user-friendly interface for easy use, collaborating with domain experts to ensure accuracy and relevance. </a:t>
            </a:r>
          </a:p>
          <a:p>
            <a:r>
              <a:rPr lang="en-US" sz="2000" dirty="0">
                <a:latin typeface="Times New Roman" panose="02020603050405020304" pitchFamily="18" charset="0"/>
                <a:cs typeface="Times New Roman" panose="02020603050405020304" pitchFamily="18" charset="0"/>
              </a:rPr>
              <a:t>These combined efforts will contribute to creating a powerful tool for bridge maintenance and management.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8350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3B38-B97F-4C9E-DA2F-120ABB300BBA}"/>
              </a:ext>
            </a:extLst>
          </p:cNvPr>
          <p:cNvSpPr>
            <a:spLocks noGrp="1"/>
          </p:cNvSpPr>
          <p:nvPr>
            <p:ph type="title"/>
          </p:nvPr>
        </p:nvSpPr>
        <p:spPr>
          <a:xfrm>
            <a:off x="815879" y="785091"/>
            <a:ext cx="8596668" cy="1320800"/>
          </a:xfrm>
        </p:spPr>
        <p:txBody>
          <a:bodyPr/>
          <a:lstStyle/>
          <a:p>
            <a:r>
              <a:rPr lang="en-IN" b="1" dirty="0">
                <a:solidFill>
                  <a:schemeClr val="tx1"/>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BADF6486-2D5A-A935-D7FD-FA18E2CC1C14}"/>
              </a:ext>
            </a:extLst>
          </p:cNvPr>
          <p:cNvSpPr>
            <a:spLocks noGrp="1"/>
          </p:cNvSpPr>
          <p:nvPr>
            <p:ph idx="1"/>
          </p:nvPr>
        </p:nvSpPr>
        <p:spPr>
          <a:xfrm>
            <a:off x="575734" y="1855789"/>
            <a:ext cx="8596668" cy="3880773"/>
          </a:xfrm>
        </p:spPr>
        <p:txBody>
          <a:bodyPr>
            <a:normAutofit lnSpcReduction="10000"/>
          </a:bodyPr>
          <a:lstStyle/>
          <a:p>
            <a:pPr algn="just">
              <a:lnSpc>
                <a:spcPct val="107000"/>
              </a:lnSpc>
              <a:spcAft>
                <a:spcPts val="800"/>
              </a:spcAft>
            </a:pPr>
            <a:r>
              <a:rPr lang="en-IN" sz="1800" kern="100" cap="all" dirty="0">
                <a:effectLst/>
                <a:latin typeface="Times New Roman" panose="02020603050405020304" pitchFamily="18" charset="0"/>
                <a:ea typeface="Aptos" panose="020B0004020202020204" pitchFamily="34" charset="0"/>
                <a:cs typeface="Times New Roman" panose="02020603050405020304" pitchFamily="18" charset="0"/>
              </a:rPr>
              <a:t>‌</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1.  C. Tu, Y. Shi, D. Liu, W. Wang, and H. Ban,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Behavior</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and general design method of concrete-filled high-strength steel tube (CFHST) columns,” </a:t>
            </a:r>
            <a:r>
              <a:rPr lang="en-IN" sz="1800" i="1" kern="100" dirty="0">
                <a:effectLst/>
                <a:latin typeface="Times New Roman" panose="02020603050405020304" pitchFamily="18" charset="0"/>
                <a:ea typeface="Aptos" panose="020B0004020202020204" pitchFamily="34" charset="0"/>
                <a:cs typeface="Times New Roman" panose="02020603050405020304" pitchFamily="18" charset="0"/>
              </a:rPr>
              <a:t>Engineering Structures</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vol. 243, p. 112506, Sep. 2021,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
              </a:rPr>
              <a:t>https://doi.org/10.1016/j.engstruct.2021.112506</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2.  P. Ziehl, T. Cousins, B. Ross, N. Huynh, and Carolina. Dept, “Assessment of Structural Degradation for Bridges and Culverts,” </a:t>
            </a:r>
            <a:r>
              <a:rPr lang="en-IN" sz="1800" i="1" kern="100" dirty="0">
                <a:effectLst/>
                <a:latin typeface="Times New Roman" panose="02020603050405020304" pitchFamily="18" charset="0"/>
                <a:ea typeface="Aptos" panose="020B0004020202020204" pitchFamily="34" charset="0"/>
                <a:cs typeface="Times New Roman" panose="02020603050405020304" pitchFamily="18" charset="0"/>
              </a:rPr>
              <a:t>Bts.gov</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Jun. 2020. </a:t>
            </a:r>
            <a:r>
              <a:rPr lang="en-IN"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3"/>
              </a:rPr>
              <a:t>https://rosap.ntl.bts.gov/view/dot/54525</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(accessed Oct. 21, 2024).</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3.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GeeksforGeeks</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“Introduction to Databricks,” </a:t>
            </a:r>
            <a:r>
              <a:rPr lang="en-IN" sz="1800" i="1" kern="100" dirty="0" err="1">
                <a:effectLst/>
                <a:latin typeface="Times New Roman" panose="02020603050405020304" pitchFamily="18" charset="0"/>
                <a:ea typeface="Aptos" panose="020B0004020202020204" pitchFamily="34" charset="0"/>
                <a:cs typeface="Times New Roman" panose="02020603050405020304" pitchFamily="18" charset="0"/>
              </a:rPr>
              <a:t>GeeksforGeeks</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Dec. 17, 2022. </a:t>
            </a:r>
            <a:r>
              <a:rPr lang="en-IN"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4"/>
              </a:rPr>
              <a:t>https://www.geeksforgeeks.org/introduction-to-databricks/</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(accessed Oct. 21, 2024).</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4. “Introduction to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PySpark</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Distributed Computing with Apache Spark,” </a:t>
            </a:r>
            <a:r>
              <a:rPr lang="en-IN" sz="1800" i="1" kern="100" dirty="0" err="1">
                <a:effectLst/>
                <a:latin typeface="Times New Roman" panose="02020603050405020304" pitchFamily="18" charset="0"/>
                <a:ea typeface="Aptos" panose="020B0004020202020204" pitchFamily="34" charset="0"/>
                <a:cs typeface="Times New Roman" panose="02020603050405020304" pitchFamily="18" charset="0"/>
              </a:rPr>
              <a:t>GeeksforGeeks</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Aug. 16, 2017. </a:t>
            </a:r>
            <a:r>
              <a:rPr lang="en-IN"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5"/>
              </a:rPr>
              <a:t>https://www.geeksforgeeks.org/introduction-pyspark-distributed-computing-apache-spark/</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5073516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2B4A65429E0C642A6C563FDF039A7A5" ma:contentTypeVersion="5" ma:contentTypeDescription="Create a new document." ma:contentTypeScope="" ma:versionID="4d4db1709e996730336119c70dbc2e4c">
  <xsd:schema xmlns:xsd="http://www.w3.org/2001/XMLSchema" xmlns:xs="http://www.w3.org/2001/XMLSchema" xmlns:p="http://schemas.microsoft.com/office/2006/metadata/properties" xmlns:ns3="63c0f7cc-30db-4985-8976-196dc5f44a6f" targetNamespace="http://schemas.microsoft.com/office/2006/metadata/properties" ma:root="true" ma:fieldsID="07558d14c29288c4aabdf7bf4f36d5fe" ns3:_="">
    <xsd:import namespace="63c0f7cc-30db-4985-8976-196dc5f44a6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c0f7cc-30db-4985-8976-196dc5f44a6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2228E8C-0D9D-47B4-BB51-B99259D8F7D1}">
  <ds:schemaRefs>
    <ds:schemaRef ds:uri="http://purl.org/dc/dcmitype/"/>
    <ds:schemaRef ds:uri="http://schemas.microsoft.com/office/2006/metadata/properties"/>
    <ds:schemaRef ds:uri="http://www.w3.org/XML/1998/namespace"/>
    <ds:schemaRef ds:uri="http://schemas.openxmlformats.org/package/2006/metadata/core-properties"/>
    <ds:schemaRef ds:uri="http://purl.org/dc/terms/"/>
    <ds:schemaRef ds:uri="http://schemas.microsoft.com/office/2006/documentManagement/types"/>
    <ds:schemaRef ds:uri="http://purl.org/dc/elements/1.1/"/>
    <ds:schemaRef ds:uri="http://schemas.microsoft.com/office/infopath/2007/PartnerControls"/>
    <ds:schemaRef ds:uri="63c0f7cc-30db-4985-8976-196dc5f44a6f"/>
  </ds:schemaRefs>
</ds:datastoreItem>
</file>

<file path=customXml/itemProps2.xml><?xml version="1.0" encoding="utf-8"?>
<ds:datastoreItem xmlns:ds="http://schemas.openxmlformats.org/officeDocument/2006/customXml" ds:itemID="{9781DFCF-9950-4FF0-8F60-5AD530A31299}">
  <ds:schemaRefs>
    <ds:schemaRef ds:uri="http://schemas.microsoft.com/sharepoint/v3/contenttype/forms"/>
  </ds:schemaRefs>
</ds:datastoreItem>
</file>

<file path=customXml/itemProps3.xml><?xml version="1.0" encoding="utf-8"?>
<ds:datastoreItem xmlns:ds="http://schemas.openxmlformats.org/officeDocument/2006/customXml" ds:itemID="{1B528B7B-A343-4E17-B6BE-48F6C27C43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c0f7cc-30db-4985-8976-196dc5f44a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310</TotalTime>
  <Words>1289</Words>
  <Application>Microsoft Office PowerPoint</Application>
  <PresentationFormat>Widescreen</PresentationFormat>
  <Paragraphs>119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Times New Roman</vt:lpstr>
      <vt:lpstr>Trebuchet MS</vt:lpstr>
      <vt:lpstr>Wingdings</vt:lpstr>
      <vt:lpstr>Wingdings 3</vt:lpstr>
      <vt:lpstr>Facet</vt:lpstr>
      <vt:lpstr>PowerPoint Presentation</vt:lpstr>
      <vt:lpstr>Introduction:</vt:lpstr>
      <vt:lpstr>Objective:</vt:lpstr>
      <vt:lpstr>Summarized Project timeline:</vt:lpstr>
      <vt:lpstr>Selected Dataset:</vt:lpstr>
      <vt:lpstr>PowerPoint Presentation</vt:lpstr>
      <vt:lpstr>The System:</vt:lpstr>
      <vt:lpstr>Data Preprocessing:</vt:lpstr>
      <vt:lpstr>Experimental Results and Analysis </vt:lpstr>
      <vt:lpstr>PowerPoint Presentation</vt:lpstr>
      <vt:lpstr>PowerPoint Presentation</vt:lpstr>
      <vt:lpstr>PowerPoint Presentation</vt:lpstr>
      <vt:lpstr>PowerPoint Presentation</vt:lpstr>
      <vt:lpstr>PowerPoint Presentation</vt:lpstr>
      <vt:lpstr>PowerPoint Presentation</vt:lpstr>
      <vt:lpstr>Random Forest Regression Model</vt:lpstr>
      <vt:lpstr>PowerPoint Presentation</vt:lpstr>
      <vt:lpstr>Evaluation Metrics:</vt:lpstr>
      <vt:lpstr>PowerPoint Presentation</vt:lpstr>
      <vt:lpstr>PowerPoint Presentation</vt:lpstr>
      <vt:lpstr>Conclusion:</vt:lpstr>
      <vt:lpstr>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Manohar Babu Katika</dc:creator>
  <cp:lastModifiedBy>Manohar Babu Katika</cp:lastModifiedBy>
  <cp:revision>5</cp:revision>
  <dcterms:created xsi:type="dcterms:W3CDTF">2024-11-19T03:37:53Z</dcterms:created>
  <dcterms:modified xsi:type="dcterms:W3CDTF">2025-11-03T19:16:05Z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0x010100C2B4A65429E0C642A6C563FDF039A7A5</vt:lpwstr>
  </property>
</Properties>
</file>